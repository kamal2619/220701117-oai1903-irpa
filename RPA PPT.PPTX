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tags/tag15.xml" ContentType="application/vnd.openxmlformats-officedocument.presentationml.tags+xml"/>
  <Override PartName="/ppt/notesSlides/notesSlide15.xml" ContentType="application/vnd.openxmlformats-officedocument.presentationml.notesSlide+xml"/>
  <Override PartName="/ppt/tags/tag16.xml" ContentType="application/vnd.openxmlformats-officedocument.presentationml.tags+xml"/>
  <Override PartName="/ppt/notesSlides/notesSlide16.xml" ContentType="application/vnd.openxmlformats-officedocument.presentationml.notesSlide+xml"/>
  <Override PartName="/ppt/tags/tag17.xml" ContentType="application/vnd.openxmlformats-officedocument.presentationml.tags+xml"/>
  <Override PartName="/ppt/notesSlides/notesSlide17.xml" ContentType="application/vnd.openxmlformats-officedocument.presentationml.notesSlide+xml"/>
  <Override PartName="/ppt/tags/tag18.xml" ContentType="application/vnd.openxmlformats-officedocument.presentationml.tags+xml"/>
  <Override PartName="/ppt/notesSlides/notesSlide18.xml" ContentType="application/vnd.openxmlformats-officedocument.presentationml.notesSlide+xml"/>
  <Override PartName="/ppt/tags/tag19.xml" ContentType="application/vnd.openxmlformats-officedocument.presentationml.tags+xml"/>
  <Override PartName="/ppt/notesSlides/notesSlide19.xml" ContentType="application/vnd.openxmlformats-officedocument.presentationml.notesSlide+xml"/>
  <Override PartName="/ppt/tags/tag20.xml" ContentType="application/vnd.openxmlformats-officedocument.presentationml.tags+xml"/>
  <Override PartName="/ppt/notesSlides/notesSlide20.xml" ContentType="application/vnd.openxmlformats-officedocument.presentationml.notesSlide+xml"/>
  <Override PartName="/ppt/tags/tag21.xml" ContentType="application/vnd.openxmlformats-officedocument.presentationml.tags+xml"/>
  <Override PartName="/ppt/notesSlides/notesSlide21.xml" ContentType="application/vnd.openxmlformats-officedocument.presentationml.notesSlide+xml"/>
  <Override PartName="/ppt/tags/tag22.xml" ContentType="application/vnd.openxmlformats-officedocument.presentationml.tags+xml"/>
  <Override PartName="/ppt/notesSlides/notesSlide22.xml" ContentType="application/vnd.openxmlformats-officedocument.presentationml.notesSlide+xml"/>
  <Override PartName="/ppt/tags/tag23.xml" ContentType="application/vnd.openxmlformats-officedocument.presentationml.tags+xml"/>
  <Override PartName="/ppt/notesSlides/notesSlide23.xml" ContentType="application/vnd.openxmlformats-officedocument.presentationml.notesSlide+xml"/>
  <Override PartName="/ppt/tags/tag24.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0"/>
  </p:notesMasterIdLst>
  <p:handoutMasterIdLst>
    <p:handoutMasterId r:id="rId31"/>
  </p:handoutMasterIdLst>
  <p:sldIdLst>
    <p:sldId id="280" r:id="rId2"/>
    <p:sldId id="366" r:id="rId3"/>
    <p:sldId id="380" r:id="rId4"/>
    <p:sldId id="383" r:id="rId5"/>
    <p:sldId id="384" r:id="rId6"/>
    <p:sldId id="385" r:id="rId7"/>
    <p:sldId id="386" r:id="rId8"/>
    <p:sldId id="387" r:id="rId9"/>
    <p:sldId id="388" r:id="rId10"/>
    <p:sldId id="400" r:id="rId11"/>
    <p:sldId id="389" r:id="rId12"/>
    <p:sldId id="390" r:id="rId13"/>
    <p:sldId id="391" r:id="rId14"/>
    <p:sldId id="401" r:id="rId15"/>
    <p:sldId id="402" r:id="rId16"/>
    <p:sldId id="392" r:id="rId17"/>
    <p:sldId id="403" r:id="rId18"/>
    <p:sldId id="404" r:id="rId19"/>
    <p:sldId id="405" r:id="rId20"/>
    <p:sldId id="406" r:id="rId21"/>
    <p:sldId id="407" r:id="rId22"/>
    <p:sldId id="393" r:id="rId23"/>
    <p:sldId id="394" r:id="rId24"/>
    <p:sldId id="408" r:id="rId25"/>
    <p:sldId id="395" r:id="rId26"/>
    <p:sldId id="397" r:id="rId27"/>
    <p:sldId id="399" r:id="rId28"/>
    <p:sldId id="281"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0524"/>
    <a:srgbClr val="008000"/>
    <a:srgbClr val="385D8A"/>
    <a:srgbClr val="34495E"/>
    <a:srgbClr val="FDFDFD"/>
    <a:srgbClr val="EAEAEA"/>
    <a:srgbClr val="F8F8F8"/>
    <a:srgbClr val="FF6702"/>
    <a:srgbClr val="D6B580"/>
    <a:srgbClr val="F8ED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88" autoAdjust="0"/>
    <p:restoredTop sz="94364" autoAdjust="0"/>
  </p:normalViewPr>
  <p:slideViewPr>
    <p:cSldViewPr>
      <p:cViewPr varScale="1">
        <p:scale>
          <a:sx n="84" d="100"/>
          <a:sy n="84" d="100"/>
        </p:scale>
        <p:origin x="1541"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67" d="100"/>
          <a:sy n="67" d="100"/>
        </p:scale>
        <p:origin x="2748" y="60"/>
      </p:cViewPr>
      <p:guideLst/>
    </p:cSldViewPr>
  </p:notes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0F5FD1-1E71-41C1-A531-EDAAD398F8D7}" type="datetimeFigureOut">
              <a:rPr lang="en-US" smtClean="0"/>
              <a:t>11/21/2024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9418C08-2D65-44A0-8D9B-1CEE7EB87A37}" type="slidenum">
              <a:rPr lang="en-US" smtClean="0"/>
              <a:t>‹#›</a:t>
            </a:fld>
            <a:endParaRPr lang="en-US"/>
          </a:p>
        </p:txBody>
      </p:sp>
    </p:spTree>
    <p:extLst>
      <p:ext uri="{BB962C8B-B14F-4D97-AF65-F5344CB8AC3E}">
        <p14:creationId xmlns:p14="http://schemas.microsoft.com/office/powerpoint/2010/main" val="10136621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DAEC9C6-1CE4-4880-838A-FB85AC35DCB4}" type="datetimeFigureOut">
              <a:rPr lang="en-US" smtClean="0"/>
              <a:pPr/>
              <a:t>11/21/2024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F7A3D7D-4DD0-4519-9573-665089B66871}" type="slidenum">
              <a:rPr lang="en-US" smtClean="0"/>
              <a:pPr/>
              <a:t>‹#›</a:t>
            </a:fld>
            <a:endParaRPr lang="en-US"/>
          </a:p>
        </p:txBody>
      </p:sp>
    </p:spTree>
    <p:extLst>
      <p:ext uri="{BB962C8B-B14F-4D97-AF65-F5344CB8AC3E}">
        <p14:creationId xmlns:p14="http://schemas.microsoft.com/office/powerpoint/2010/main" val="16749366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a:t>
            </a:fld>
            <a:endParaRPr lang="en-US"/>
          </a:p>
        </p:txBody>
      </p:sp>
    </p:spTree>
    <p:extLst>
      <p:ext uri="{BB962C8B-B14F-4D97-AF65-F5344CB8AC3E}">
        <p14:creationId xmlns:p14="http://schemas.microsoft.com/office/powerpoint/2010/main" val="5386249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3</a:t>
            </a:fld>
            <a:endParaRPr lang="en-US"/>
          </a:p>
        </p:txBody>
      </p:sp>
    </p:spTree>
    <p:extLst>
      <p:ext uri="{BB962C8B-B14F-4D97-AF65-F5344CB8AC3E}">
        <p14:creationId xmlns:p14="http://schemas.microsoft.com/office/powerpoint/2010/main" val="783653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4</a:t>
            </a:fld>
            <a:endParaRPr lang="en-US"/>
          </a:p>
        </p:txBody>
      </p:sp>
    </p:spTree>
    <p:extLst>
      <p:ext uri="{BB962C8B-B14F-4D97-AF65-F5344CB8AC3E}">
        <p14:creationId xmlns:p14="http://schemas.microsoft.com/office/powerpoint/2010/main" val="35136850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5</a:t>
            </a:fld>
            <a:endParaRPr lang="en-US"/>
          </a:p>
        </p:txBody>
      </p:sp>
    </p:spTree>
    <p:extLst>
      <p:ext uri="{BB962C8B-B14F-4D97-AF65-F5344CB8AC3E}">
        <p14:creationId xmlns:p14="http://schemas.microsoft.com/office/powerpoint/2010/main" val="18451487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6</a:t>
            </a:fld>
            <a:endParaRPr lang="en-US"/>
          </a:p>
        </p:txBody>
      </p:sp>
    </p:spTree>
    <p:extLst>
      <p:ext uri="{BB962C8B-B14F-4D97-AF65-F5344CB8AC3E}">
        <p14:creationId xmlns:p14="http://schemas.microsoft.com/office/powerpoint/2010/main" val="24572639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7</a:t>
            </a:fld>
            <a:endParaRPr lang="en-US"/>
          </a:p>
        </p:txBody>
      </p:sp>
    </p:spTree>
    <p:extLst>
      <p:ext uri="{BB962C8B-B14F-4D97-AF65-F5344CB8AC3E}">
        <p14:creationId xmlns:p14="http://schemas.microsoft.com/office/powerpoint/2010/main" val="15273736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8</a:t>
            </a:fld>
            <a:endParaRPr lang="en-US"/>
          </a:p>
        </p:txBody>
      </p:sp>
    </p:spTree>
    <p:extLst>
      <p:ext uri="{BB962C8B-B14F-4D97-AF65-F5344CB8AC3E}">
        <p14:creationId xmlns:p14="http://schemas.microsoft.com/office/powerpoint/2010/main" val="33176278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9</a:t>
            </a:fld>
            <a:endParaRPr lang="en-US"/>
          </a:p>
        </p:txBody>
      </p:sp>
    </p:spTree>
    <p:extLst>
      <p:ext uri="{BB962C8B-B14F-4D97-AF65-F5344CB8AC3E}">
        <p14:creationId xmlns:p14="http://schemas.microsoft.com/office/powerpoint/2010/main" val="33227195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D9768-4C25-B8C3-AC79-0F2F84F4AA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09DF8D-8477-B502-396A-1CBE4DD2CD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79CE88-E4DC-DB99-13B8-808F371C266A}"/>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73D83DF-7238-B384-D8CA-BB487CF339A4}"/>
              </a:ext>
            </a:extLst>
          </p:cNvPr>
          <p:cNvSpPr>
            <a:spLocks noGrp="1"/>
          </p:cNvSpPr>
          <p:nvPr>
            <p:ph type="sldNum" sz="quarter" idx="10"/>
          </p:nvPr>
        </p:nvSpPr>
        <p:spPr/>
        <p:txBody>
          <a:bodyPr/>
          <a:lstStyle/>
          <a:p>
            <a:fld id="{3F7A3D7D-4DD0-4519-9573-665089B66871}" type="slidenum">
              <a:rPr lang="en-US" smtClean="0"/>
              <a:pPr/>
              <a:t>10</a:t>
            </a:fld>
            <a:endParaRPr lang="en-US"/>
          </a:p>
        </p:txBody>
      </p:sp>
    </p:spTree>
    <p:extLst>
      <p:ext uri="{BB962C8B-B14F-4D97-AF65-F5344CB8AC3E}">
        <p14:creationId xmlns:p14="http://schemas.microsoft.com/office/powerpoint/2010/main" val="2141052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11</a:t>
            </a:fld>
            <a:endParaRPr lang="en-US"/>
          </a:p>
        </p:txBody>
      </p:sp>
    </p:spTree>
    <p:extLst>
      <p:ext uri="{BB962C8B-B14F-4D97-AF65-F5344CB8AC3E}">
        <p14:creationId xmlns:p14="http://schemas.microsoft.com/office/powerpoint/2010/main" val="17894435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12</a:t>
            </a:fld>
            <a:endParaRPr lang="en-US"/>
          </a:p>
        </p:txBody>
      </p:sp>
    </p:spTree>
    <p:extLst>
      <p:ext uri="{BB962C8B-B14F-4D97-AF65-F5344CB8AC3E}">
        <p14:creationId xmlns:p14="http://schemas.microsoft.com/office/powerpoint/2010/main" val="27636418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13</a:t>
            </a:fld>
            <a:endParaRPr lang="en-US"/>
          </a:p>
        </p:txBody>
      </p:sp>
    </p:spTree>
    <p:extLst>
      <p:ext uri="{BB962C8B-B14F-4D97-AF65-F5344CB8AC3E}">
        <p14:creationId xmlns:p14="http://schemas.microsoft.com/office/powerpoint/2010/main" val="8580241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C0C17-63AA-CD1E-24AB-0AC37BE5FC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729BF6-7D59-851C-1D7C-26ADE4662C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D41DC7-8F99-08FD-32F0-11E6BB55CE1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A730C9E2-254A-74FE-AC79-76F12A0D4E7E}"/>
              </a:ext>
            </a:extLst>
          </p:cNvPr>
          <p:cNvSpPr>
            <a:spLocks noGrp="1"/>
          </p:cNvSpPr>
          <p:nvPr>
            <p:ph type="sldNum" sz="quarter" idx="10"/>
          </p:nvPr>
        </p:nvSpPr>
        <p:spPr/>
        <p:txBody>
          <a:bodyPr/>
          <a:lstStyle/>
          <a:p>
            <a:fld id="{3F7A3D7D-4DD0-4519-9573-665089B66871}" type="slidenum">
              <a:rPr lang="en-US" smtClean="0"/>
              <a:pPr/>
              <a:t>14</a:t>
            </a:fld>
            <a:endParaRPr lang="en-US"/>
          </a:p>
        </p:txBody>
      </p:sp>
    </p:spTree>
    <p:extLst>
      <p:ext uri="{BB962C8B-B14F-4D97-AF65-F5344CB8AC3E}">
        <p14:creationId xmlns:p14="http://schemas.microsoft.com/office/powerpoint/2010/main" val="33348901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4F66C-CE84-5B2A-F450-9025B3457A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C39D9F-26F9-479D-A924-0B6D3F7E50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832011-BF03-B0F7-16E0-58A31D880BE3}"/>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BB47B28E-832A-8BEA-1CC1-414B27DF5AD3}"/>
              </a:ext>
            </a:extLst>
          </p:cNvPr>
          <p:cNvSpPr>
            <a:spLocks noGrp="1"/>
          </p:cNvSpPr>
          <p:nvPr>
            <p:ph type="sldNum" sz="quarter" idx="10"/>
          </p:nvPr>
        </p:nvSpPr>
        <p:spPr/>
        <p:txBody>
          <a:bodyPr/>
          <a:lstStyle/>
          <a:p>
            <a:fld id="{3F7A3D7D-4DD0-4519-9573-665089B66871}" type="slidenum">
              <a:rPr lang="en-US" smtClean="0"/>
              <a:pPr/>
              <a:t>15</a:t>
            </a:fld>
            <a:endParaRPr lang="en-US"/>
          </a:p>
        </p:txBody>
      </p:sp>
    </p:spTree>
    <p:extLst>
      <p:ext uri="{BB962C8B-B14F-4D97-AF65-F5344CB8AC3E}">
        <p14:creationId xmlns:p14="http://schemas.microsoft.com/office/powerpoint/2010/main" val="41328900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16</a:t>
            </a:fld>
            <a:endParaRPr lang="en-US"/>
          </a:p>
        </p:txBody>
      </p:sp>
    </p:spTree>
    <p:extLst>
      <p:ext uri="{BB962C8B-B14F-4D97-AF65-F5344CB8AC3E}">
        <p14:creationId xmlns:p14="http://schemas.microsoft.com/office/powerpoint/2010/main" val="13509326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80ED4B-68B6-B1A6-8606-71766336D7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63A21B-64AE-5A2C-B74F-CDB8AC7FA3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6C48BD-50B9-0AF7-B65B-417B19A87A93}"/>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0E1D572-5992-201C-1299-9828F5CA26E2}"/>
              </a:ext>
            </a:extLst>
          </p:cNvPr>
          <p:cNvSpPr>
            <a:spLocks noGrp="1"/>
          </p:cNvSpPr>
          <p:nvPr>
            <p:ph type="sldNum" sz="quarter" idx="10"/>
          </p:nvPr>
        </p:nvSpPr>
        <p:spPr/>
        <p:txBody>
          <a:bodyPr/>
          <a:lstStyle/>
          <a:p>
            <a:fld id="{3F7A3D7D-4DD0-4519-9573-665089B66871}" type="slidenum">
              <a:rPr lang="en-US" smtClean="0"/>
              <a:pPr/>
              <a:t>17</a:t>
            </a:fld>
            <a:endParaRPr lang="en-US"/>
          </a:p>
        </p:txBody>
      </p:sp>
    </p:spTree>
    <p:extLst>
      <p:ext uri="{BB962C8B-B14F-4D97-AF65-F5344CB8AC3E}">
        <p14:creationId xmlns:p14="http://schemas.microsoft.com/office/powerpoint/2010/main" val="1024213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6383D-CA57-2862-2089-FB03092F3E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4B64C5-75B6-64A4-FF02-3B643980DE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D0CDB1-FF82-34A4-1A8C-451F91B9AF6E}"/>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19C80F4-F73B-1C05-DA76-4E3F913142EC}"/>
              </a:ext>
            </a:extLst>
          </p:cNvPr>
          <p:cNvSpPr>
            <a:spLocks noGrp="1"/>
          </p:cNvSpPr>
          <p:nvPr>
            <p:ph type="sldNum" sz="quarter" idx="10"/>
          </p:nvPr>
        </p:nvSpPr>
        <p:spPr/>
        <p:txBody>
          <a:bodyPr/>
          <a:lstStyle/>
          <a:p>
            <a:fld id="{3F7A3D7D-4DD0-4519-9573-665089B66871}" type="slidenum">
              <a:rPr lang="en-US" smtClean="0"/>
              <a:pPr/>
              <a:t>18</a:t>
            </a:fld>
            <a:endParaRPr lang="en-US"/>
          </a:p>
        </p:txBody>
      </p:sp>
    </p:spTree>
    <p:extLst>
      <p:ext uri="{BB962C8B-B14F-4D97-AF65-F5344CB8AC3E}">
        <p14:creationId xmlns:p14="http://schemas.microsoft.com/office/powerpoint/2010/main" val="38374966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F6DB6-DA0C-A2A8-92A8-CB53C5D29E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4C967A-58B7-05F2-A78D-D1D25DCB64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85D410-1567-4A26-0B0A-DEA203414E43}"/>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E3927C4-5D9C-70E4-56F3-780F58595BD5}"/>
              </a:ext>
            </a:extLst>
          </p:cNvPr>
          <p:cNvSpPr>
            <a:spLocks noGrp="1"/>
          </p:cNvSpPr>
          <p:nvPr>
            <p:ph type="sldNum" sz="quarter" idx="10"/>
          </p:nvPr>
        </p:nvSpPr>
        <p:spPr/>
        <p:txBody>
          <a:bodyPr/>
          <a:lstStyle/>
          <a:p>
            <a:fld id="{3F7A3D7D-4DD0-4519-9573-665089B66871}" type="slidenum">
              <a:rPr lang="en-US" smtClean="0"/>
              <a:pPr/>
              <a:t>19</a:t>
            </a:fld>
            <a:endParaRPr lang="en-US"/>
          </a:p>
        </p:txBody>
      </p:sp>
    </p:spTree>
    <p:extLst>
      <p:ext uri="{BB962C8B-B14F-4D97-AF65-F5344CB8AC3E}">
        <p14:creationId xmlns:p14="http://schemas.microsoft.com/office/powerpoint/2010/main" val="27859284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E81715-3CFF-ACA5-1F2E-7DA9FFBD6B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975610-87FA-22FC-92B7-AF8C641936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B4F3FB-B9FA-C3C6-4FFA-A59A625F39A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80EBEF1-7545-408A-1B0E-E1FA363BC41C}"/>
              </a:ext>
            </a:extLst>
          </p:cNvPr>
          <p:cNvSpPr>
            <a:spLocks noGrp="1"/>
          </p:cNvSpPr>
          <p:nvPr>
            <p:ph type="sldNum" sz="quarter" idx="10"/>
          </p:nvPr>
        </p:nvSpPr>
        <p:spPr/>
        <p:txBody>
          <a:bodyPr/>
          <a:lstStyle/>
          <a:p>
            <a:fld id="{3F7A3D7D-4DD0-4519-9573-665089B66871}" type="slidenum">
              <a:rPr lang="en-US" smtClean="0"/>
              <a:pPr/>
              <a:t>20</a:t>
            </a:fld>
            <a:endParaRPr lang="en-US"/>
          </a:p>
        </p:txBody>
      </p:sp>
    </p:spTree>
    <p:extLst>
      <p:ext uri="{BB962C8B-B14F-4D97-AF65-F5344CB8AC3E}">
        <p14:creationId xmlns:p14="http://schemas.microsoft.com/office/powerpoint/2010/main" val="26197788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DDD62-74F2-A8DA-85E1-072DF8343F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CDA2DD-5A3E-D427-382E-8766DA024E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5AD38B-EEF7-24A9-4CCC-12609706D8DA}"/>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921E368-3FAD-DB71-9AB4-0040D974864E}"/>
              </a:ext>
            </a:extLst>
          </p:cNvPr>
          <p:cNvSpPr>
            <a:spLocks noGrp="1"/>
          </p:cNvSpPr>
          <p:nvPr>
            <p:ph type="sldNum" sz="quarter" idx="10"/>
          </p:nvPr>
        </p:nvSpPr>
        <p:spPr/>
        <p:txBody>
          <a:bodyPr/>
          <a:lstStyle/>
          <a:p>
            <a:fld id="{3F7A3D7D-4DD0-4519-9573-665089B66871}" type="slidenum">
              <a:rPr lang="en-US" smtClean="0"/>
              <a:pPr/>
              <a:t>21</a:t>
            </a:fld>
            <a:endParaRPr lang="en-US"/>
          </a:p>
        </p:txBody>
      </p:sp>
    </p:spTree>
    <p:extLst>
      <p:ext uri="{BB962C8B-B14F-4D97-AF65-F5344CB8AC3E}">
        <p14:creationId xmlns:p14="http://schemas.microsoft.com/office/powerpoint/2010/main" val="26697247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22</a:t>
            </a:fld>
            <a:endParaRPr lang="en-US"/>
          </a:p>
        </p:txBody>
      </p:sp>
    </p:spTree>
    <p:extLst>
      <p:ext uri="{BB962C8B-B14F-4D97-AF65-F5344CB8AC3E}">
        <p14:creationId xmlns:p14="http://schemas.microsoft.com/office/powerpoint/2010/main" val="8952566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23</a:t>
            </a:fld>
            <a:endParaRPr lang="en-US"/>
          </a:p>
        </p:txBody>
      </p:sp>
    </p:spTree>
    <p:extLst>
      <p:ext uri="{BB962C8B-B14F-4D97-AF65-F5344CB8AC3E}">
        <p14:creationId xmlns:p14="http://schemas.microsoft.com/office/powerpoint/2010/main" val="23311093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3FA7C2-C72D-35A2-3BFC-E416A917F1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F93BEC-9957-FA89-6A63-16319E039B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3A6068-29F8-11E9-40BB-CC1AD4B035FE}"/>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C2E2F74A-5BAA-3103-7C59-A5ADB2A3BFE7}"/>
              </a:ext>
            </a:extLst>
          </p:cNvPr>
          <p:cNvSpPr>
            <a:spLocks noGrp="1"/>
          </p:cNvSpPr>
          <p:nvPr>
            <p:ph type="sldNum" sz="quarter" idx="10"/>
          </p:nvPr>
        </p:nvSpPr>
        <p:spPr/>
        <p:txBody>
          <a:bodyPr/>
          <a:lstStyle/>
          <a:p>
            <a:fld id="{3F7A3D7D-4DD0-4519-9573-665089B66871}" type="slidenum">
              <a:rPr lang="en-US" smtClean="0"/>
              <a:pPr/>
              <a:t>24</a:t>
            </a:fld>
            <a:endParaRPr lang="en-US"/>
          </a:p>
        </p:txBody>
      </p:sp>
    </p:spTree>
    <p:extLst>
      <p:ext uri="{BB962C8B-B14F-4D97-AF65-F5344CB8AC3E}">
        <p14:creationId xmlns:p14="http://schemas.microsoft.com/office/powerpoint/2010/main" val="231406032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25</a:t>
            </a:fld>
            <a:endParaRPr lang="en-US"/>
          </a:p>
        </p:txBody>
      </p:sp>
    </p:spTree>
    <p:extLst>
      <p:ext uri="{BB962C8B-B14F-4D97-AF65-F5344CB8AC3E}">
        <p14:creationId xmlns:p14="http://schemas.microsoft.com/office/powerpoint/2010/main" val="27053100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26</a:t>
            </a:fld>
            <a:endParaRPr lang="en-US" dirty="0"/>
          </a:p>
        </p:txBody>
      </p:sp>
    </p:spTree>
    <p:extLst>
      <p:ext uri="{BB962C8B-B14F-4D97-AF65-F5344CB8AC3E}">
        <p14:creationId xmlns:p14="http://schemas.microsoft.com/office/powerpoint/2010/main" val="271740212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27</a:t>
            </a:fld>
            <a:endParaRPr lang="en-US" dirty="0"/>
          </a:p>
        </p:txBody>
      </p:sp>
    </p:spTree>
    <p:extLst>
      <p:ext uri="{BB962C8B-B14F-4D97-AF65-F5344CB8AC3E}">
        <p14:creationId xmlns:p14="http://schemas.microsoft.com/office/powerpoint/2010/main" val="320767493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28</a:t>
            </a:fld>
            <a:endParaRPr lang="en-US" dirty="0"/>
          </a:p>
        </p:txBody>
      </p:sp>
    </p:spTree>
    <p:extLst>
      <p:ext uri="{BB962C8B-B14F-4D97-AF65-F5344CB8AC3E}">
        <p14:creationId xmlns:p14="http://schemas.microsoft.com/office/powerpoint/2010/main" val="32124533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0500" y="106363"/>
            <a:ext cx="8763000" cy="808037"/>
          </a:xfrm>
        </p:spPr>
        <p:txBody>
          <a:bodyPr/>
          <a:lstStyle>
            <a:lvl1pPr algn="l">
              <a:defRPr>
                <a:latin typeface="+mj-lt"/>
                <a:ea typeface="Open Sans Semibold" panose="020B0706030804020204" pitchFamily="34" charset="0"/>
                <a:cs typeface="Open Sans Semibold" panose="020B0706030804020204" pitchFamily="34" charset="0"/>
              </a:defRPr>
            </a:lvl1pPr>
          </a:lstStyle>
          <a:p>
            <a:r>
              <a:rPr lang="en-US" dirty="0"/>
              <a:t>Click to edit Master title style</a:t>
            </a:r>
          </a:p>
        </p:txBody>
      </p:sp>
      <p:sp>
        <p:nvSpPr>
          <p:cNvPr id="3" name="Content Placeholder 2"/>
          <p:cNvSpPr>
            <a:spLocks noGrp="1"/>
          </p:cNvSpPr>
          <p:nvPr>
            <p:ph idx="1"/>
          </p:nvPr>
        </p:nvSpPr>
        <p:spPr>
          <a:xfrm>
            <a:off x="190500" y="990600"/>
            <a:ext cx="8763000" cy="5334000"/>
          </a:xfrm>
        </p:spPr>
        <p:txBody>
          <a:bodyPr>
            <a:normAutofit/>
          </a:bodyPr>
          <a:lstStyle>
            <a:lvl1pPr marL="342900" indent="-342900">
              <a:lnSpc>
                <a:spcPct val="114000"/>
              </a:lnSpc>
              <a:buClrTx/>
              <a:buFont typeface="Wingdings" panose="05000000000000000000" pitchFamily="2" charset="2"/>
              <a:buChar char="§"/>
              <a:defRPr sz="2400">
                <a:latin typeface="+mj-lt"/>
                <a:ea typeface="Times New Roman" panose="02020603050405020304" pitchFamily="18" charset="0"/>
                <a:cs typeface="Times New Roman" panose="02020603050405020304" pitchFamily="18" charset="0"/>
              </a:defRPr>
            </a:lvl1pPr>
            <a:lvl2pPr marL="742950" indent="-285750">
              <a:lnSpc>
                <a:spcPct val="114000"/>
              </a:lnSpc>
              <a:buClrTx/>
              <a:buFont typeface="Arial" panose="020B0604020202020204" pitchFamily="34" charset="0"/>
              <a:buChar char="•"/>
              <a:defRPr sz="2000">
                <a:latin typeface="+mj-lt"/>
                <a:ea typeface="Times New Roman" panose="02020603050405020304" pitchFamily="18" charset="0"/>
                <a:cs typeface="Times New Roman" panose="02020603050405020304" pitchFamily="18" charset="0"/>
              </a:defRPr>
            </a:lvl2pPr>
            <a:lvl3pPr>
              <a:lnSpc>
                <a:spcPct val="114000"/>
              </a:lnSpc>
              <a:buClrTx/>
              <a:defRPr sz="1800">
                <a:latin typeface="+mj-lt"/>
                <a:ea typeface="Times New Roman" panose="02020603050405020304" pitchFamily="18" charset="0"/>
                <a:cs typeface="Times New Roman" panose="02020603050405020304" pitchFamily="18" charset="0"/>
              </a:defRPr>
            </a:lvl3pPr>
            <a:lvl4pPr>
              <a:lnSpc>
                <a:spcPct val="114000"/>
              </a:lnSpc>
              <a:buClrTx/>
              <a:defRPr sz="1600">
                <a:latin typeface="+mj-lt"/>
                <a:ea typeface="Times New Roman" panose="02020603050405020304" pitchFamily="18" charset="0"/>
                <a:cs typeface="Times New Roman" panose="02020603050405020304" pitchFamily="18" charset="0"/>
              </a:defRPr>
            </a:lvl4pPr>
            <a:lvl5pPr>
              <a:lnSpc>
                <a:spcPct val="114000"/>
              </a:lnSpc>
              <a:buClrTx/>
              <a:defRPr sz="1600">
                <a:latin typeface="+mj-lt"/>
                <a:ea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ktangel 11"/>
          <p:cNvSpPr/>
          <p:nvPr userDrawn="1"/>
        </p:nvSpPr>
        <p:spPr>
          <a:xfrm>
            <a:off x="0" y="6477000"/>
            <a:ext cx="457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en-US" sz="1600" noProof="1">
                <a:solidFill>
                  <a:srgbClr val="FFFFFF"/>
                </a:solidFill>
                <a:latin typeface="+mj-lt"/>
                <a:ea typeface="Open Sans" panose="020B0606030504020204" pitchFamily="34" charset="0"/>
                <a:cs typeface="Open Sans" panose="020B0606030504020204" pitchFamily="34" charset="0"/>
              </a:rPr>
              <a:t>Department of Computer</a:t>
            </a:r>
            <a:r>
              <a:rPr lang="en-US" sz="1600" baseline="0" noProof="1">
                <a:solidFill>
                  <a:srgbClr val="FFFFFF"/>
                </a:solidFill>
                <a:latin typeface="+mj-lt"/>
                <a:ea typeface="Open Sans" panose="020B0606030504020204" pitchFamily="34" charset="0"/>
                <a:cs typeface="Open Sans" panose="020B0606030504020204" pitchFamily="34" charset="0"/>
              </a:rPr>
              <a:t> Science and Engineering</a:t>
            </a:r>
            <a:endParaRPr lang="da-DK" sz="1600" noProof="1">
              <a:solidFill>
                <a:srgbClr val="FFFFFF"/>
              </a:solidFill>
              <a:latin typeface="+mj-lt"/>
              <a:ea typeface="Open Sans" panose="020B0606030504020204" pitchFamily="34" charset="0"/>
              <a:cs typeface="Open Sans" panose="020B0606030504020204" pitchFamily="34" charset="0"/>
            </a:endParaRPr>
          </a:p>
        </p:txBody>
      </p:sp>
      <p:cxnSp>
        <p:nvCxnSpPr>
          <p:cNvPr id="6" name="Straight Connector 5"/>
          <p:cNvCxnSpPr/>
          <p:nvPr userDrawn="1"/>
        </p:nvCxnSpPr>
        <p:spPr>
          <a:xfrm>
            <a:off x="190500" y="914400"/>
            <a:ext cx="8763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 name="Rektangel 11"/>
          <p:cNvSpPr/>
          <p:nvPr userDrawn="1"/>
        </p:nvSpPr>
        <p:spPr>
          <a:xfrm>
            <a:off x="4572000" y="6477490"/>
            <a:ext cx="457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da-DK" sz="1600" noProof="1">
                <a:solidFill>
                  <a:srgbClr val="FFFFFF"/>
                </a:solidFill>
                <a:latin typeface="+mj-lt"/>
                <a:ea typeface="Open Sans" panose="020B0606030504020204" pitchFamily="34" charset="0"/>
                <a:cs typeface="Open Sans" panose="020B0606030504020204" pitchFamily="34" charset="0"/>
              </a:rPr>
              <a:t>Rajalakshmi Engineering College 		</a:t>
            </a:r>
            <a:fld id="{6E8469F3-9EE8-43CF-BEDC-475B89412D1D}" type="slidenum">
              <a:rPr lang="da-DK" sz="1600" kern="1200" noProof="1" smtClean="0">
                <a:solidFill>
                  <a:srgbClr val="FFFFFF"/>
                </a:solidFill>
                <a:latin typeface="+mn-lt"/>
                <a:ea typeface="Open Sans" panose="020B0606030504020204" pitchFamily="34" charset="0"/>
                <a:cs typeface="Open Sans" panose="020B0606030504020204" pitchFamily="34" charset="0"/>
              </a:rPr>
              <a:pPr/>
              <a:t>‹#›</a:t>
            </a:fld>
            <a:endParaRPr lang="da-DK" sz="1600" noProof="1">
              <a:solidFill>
                <a:srgbClr val="FFFFFF"/>
              </a:solidFill>
              <a:latin typeface="+mj-lt"/>
              <a:ea typeface="Open Sans" panose="020B0606030504020204" pitchFamily="34" charset="0"/>
              <a:cs typeface="Open Sans" panose="020B0606030504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A8BEFB-AE5B-48F9-BBAD-B489CDE48C8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0.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3.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5.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6.xm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17.xm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18.xm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19.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20.xml"/><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23.xml"/><Relationship Id="rId5" Type="http://schemas.openxmlformats.org/officeDocument/2006/relationships/hyperlink" Target="https://ieeexplore.ieee.org/abstract/document/8737827" TargetMode="External"/><Relationship Id="rId4" Type="http://schemas.openxmlformats.org/officeDocument/2006/relationships/hyperlink" Target="https://ieeexplore.ieee.org/document/10486769" TargetMode="Externa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2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776" t="63278" r="776" b="-30898"/>
          <a:stretch/>
        </p:blipFill>
        <p:spPr>
          <a:xfrm>
            <a:off x="-72010" y="-2532"/>
            <a:ext cx="9216010" cy="3231811"/>
          </a:xfrm>
          <a:prstGeom prst="rect">
            <a:avLst/>
          </a:prstGeom>
        </p:spPr>
      </p:pic>
      <p:grpSp>
        <p:nvGrpSpPr>
          <p:cNvPr id="20" name="Group 19"/>
          <p:cNvGrpSpPr/>
          <p:nvPr/>
        </p:nvGrpSpPr>
        <p:grpSpPr>
          <a:xfrm>
            <a:off x="-14748" y="986564"/>
            <a:ext cx="9158748" cy="5148980"/>
            <a:chOff x="-14748" y="986564"/>
            <a:chExt cx="9158748" cy="5148980"/>
          </a:xfrm>
        </p:grpSpPr>
        <p:sp>
          <p:nvSpPr>
            <p:cNvPr id="22" name="TextBox 21"/>
            <p:cNvSpPr txBox="1"/>
            <p:nvPr/>
          </p:nvSpPr>
          <p:spPr>
            <a:xfrm>
              <a:off x="177781" y="4812105"/>
              <a:ext cx="4322209" cy="1323439"/>
            </a:xfrm>
            <a:prstGeom prst="rect">
              <a:avLst/>
            </a:prstGeom>
            <a:noFill/>
          </p:spPr>
          <p:txBody>
            <a:bodyPr wrap="square" rtlCol="0">
              <a:spAutoFit/>
            </a:bodyPr>
            <a:lstStyle/>
            <a:p>
              <a:r>
                <a:rPr lang="en-US" sz="2000" b="1" dirty="0"/>
                <a:t>220701117</a:t>
              </a:r>
            </a:p>
            <a:p>
              <a:r>
                <a:rPr lang="en-US" sz="2000" b="1" dirty="0"/>
                <a:t>Kamal JR</a:t>
              </a:r>
            </a:p>
            <a:p>
              <a:r>
                <a:rPr lang="en-US" sz="2000" b="1" dirty="0"/>
                <a:t>Mrs. J. Jinu Sophia</a:t>
              </a:r>
            </a:p>
            <a:p>
              <a:r>
                <a:rPr lang="en-US" sz="2000" b="1" dirty="0"/>
                <a:t>Assistant Professor (SG)</a:t>
              </a:r>
            </a:p>
          </p:txBody>
        </p:sp>
        <p:grpSp>
          <p:nvGrpSpPr>
            <p:cNvPr id="43" name="Group 42"/>
            <p:cNvGrpSpPr/>
            <p:nvPr/>
          </p:nvGrpSpPr>
          <p:grpSpPr>
            <a:xfrm>
              <a:off x="-14748" y="986564"/>
              <a:ext cx="9158748" cy="3628907"/>
              <a:chOff x="-14748" y="986564"/>
              <a:chExt cx="9158748" cy="3628907"/>
            </a:xfrm>
          </p:grpSpPr>
          <p:sp>
            <p:nvSpPr>
              <p:cNvPr id="45" name="Freeform 44"/>
              <p:cNvSpPr/>
              <p:nvPr/>
            </p:nvSpPr>
            <p:spPr>
              <a:xfrm>
                <a:off x="5003203" y="1761199"/>
                <a:ext cx="4140797" cy="2622445"/>
              </a:xfrm>
              <a:custGeom>
                <a:avLst/>
                <a:gdLst>
                  <a:gd name="connsiteX0" fmla="*/ 1 w 4140797"/>
                  <a:gd name="connsiteY0" fmla="*/ 0 h 2622445"/>
                  <a:gd name="connsiteX1" fmla="*/ 4140797 w 4140797"/>
                  <a:gd name="connsiteY1" fmla="*/ 0 h 2622445"/>
                  <a:gd name="connsiteX2" fmla="*/ 4140797 w 4140797"/>
                  <a:gd name="connsiteY2" fmla="*/ 2622445 h 2622445"/>
                  <a:gd name="connsiteX3" fmla="*/ 0 w 4140797"/>
                  <a:gd name="connsiteY3" fmla="*/ 2622445 h 2622445"/>
                  <a:gd name="connsiteX4" fmla="*/ 1311223 w 4140797"/>
                  <a:gd name="connsiteY4" fmla="*/ 1311222 h 2622445"/>
                  <a:gd name="connsiteX5" fmla="*/ 1 w 4140797"/>
                  <a:gd name="connsiteY5" fmla="*/ 0 h 2622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40797" h="2622445">
                    <a:moveTo>
                      <a:pt x="1" y="0"/>
                    </a:moveTo>
                    <a:lnTo>
                      <a:pt x="4140797" y="0"/>
                    </a:lnTo>
                    <a:lnTo>
                      <a:pt x="4140797" y="2622445"/>
                    </a:lnTo>
                    <a:lnTo>
                      <a:pt x="0" y="2622445"/>
                    </a:lnTo>
                    <a:lnTo>
                      <a:pt x="1311223" y="1311222"/>
                    </a:lnTo>
                    <a:lnTo>
                      <a:pt x="1" y="0"/>
                    </a:lnTo>
                    <a:close/>
                  </a:path>
                </a:pathLst>
              </a:custGeom>
              <a:solidFill>
                <a:srgbClr val="00AA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Pentagon 45"/>
              <p:cNvSpPr/>
              <p:nvPr/>
            </p:nvSpPr>
            <p:spPr>
              <a:xfrm>
                <a:off x="0" y="1529371"/>
                <a:ext cx="5743977" cy="3086100"/>
              </a:xfrm>
              <a:prstGeom prst="homePlate">
                <a:avLst/>
              </a:prstGeom>
              <a:solidFill>
                <a:srgbClr val="59595B"/>
              </a:solidFill>
              <a:ln>
                <a:solidFill>
                  <a:srgbClr val="59595B"/>
                </a:solid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47" name="Group 46"/>
              <p:cNvGrpSpPr/>
              <p:nvPr/>
            </p:nvGrpSpPr>
            <p:grpSpPr>
              <a:xfrm>
                <a:off x="-14748" y="986564"/>
                <a:ext cx="4014973" cy="1075928"/>
                <a:chOff x="-19391" y="1011603"/>
                <a:chExt cx="5278947" cy="1075928"/>
              </a:xfrm>
            </p:grpSpPr>
            <p:sp>
              <p:nvSpPr>
                <p:cNvPr id="51" name="Pentagon 50"/>
                <p:cNvSpPr/>
                <p:nvPr/>
              </p:nvSpPr>
              <p:spPr>
                <a:xfrm>
                  <a:off x="-19391" y="1011603"/>
                  <a:ext cx="5278947" cy="1075928"/>
                </a:xfrm>
                <a:prstGeom prst="homePlate">
                  <a:avLst/>
                </a:prstGeom>
                <a:solidFill>
                  <a:srgbClr val="00AAAD"/>
                </a:solidFill>
                <a:ln>
                  <a:no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52" name="TextBox 51"/>
                <p:cNvSpPr txBox="1"/>
                <p:nvPr/>
              </p:nvSpPr>
              <p:spPr>
                <a:xfrm>
                  <a:off x="237041" y="1195624"/>
                  <a:ext cx="4181886" cy="707886"/>
                </a:xfrm>
                <a:prstGeom prst="rect">
                  <a:avLst/>
                </a:prstGeom>
                <a:noFill/>
              </p:spPr>
              <p:txBody>
                <a:bodyPr wrap="square" rtlCol="0" anchor="ctr">
                  <a:spAutoFit/>
                </a:bodyPr>
                <a:lstStyle/>
                <a:p>
                  <a:pPr algn="ctr"/>
                  <a:r>
                    <a:rPr lang="en-US" sz="2000" b="1" dirty="0">
                      <a:solidFill>
                        <a:schemeClr val="bg1"/>
                      </a:solidFill>
                      <a:ea typeface="Open Sans Light" panose="020B0306030504020204" pitchFamily="34" charset="0"/>
                      <a:cs typeface="Open Sans Light" panose="020B0306030504020204" pitchFamily="34" charset="0"/>
                    </a:rPr>
                    <a:t>Introduction to </a:t>
                  </a:r>
                </a:p>
                <a:p>
                  <a:pPr algn="ctr"/>
                  <a:r>
                    <a:rPr lang="en-US" sz="2000" b="1" dirty="0">
                      <a:solidFill>
                        <a:schemeClr val="bg1"/>
                      </a:solidFill>
                      <a:ea typeface="Open Sans Light" panose="020B0306030504020204" pitchFamily="34" charset="0"/>
                      <a:cs typeface="Open Sans Light" panose="020B0306030504020204" pitchFamily="34" charset="0"/>
                    </a:rPr>
                    <a:t>Robotic Process Automation </a:t>
                  </a:r>
                </a:p>
              </p:txBody>
            </p:sp>
          </p:grpSp>
          <p:sp>
            <p:nvSpPr>
              <p:cNvPr id="48" name="TextBox 47"/>
              <p:cNvSpPr txBox="1"/>
              <p:nvPr/>
            </p:nvSpPr>
            <p:spPr>
              <a:xfrm>
                <a:off x="177782" y="2100903"/>
                <a:ext cx="4188156" cy="1754326"/>
              </a:xfrm>
              <a:prstGeom prst="rect">
                <a:avLst/>
              </a:prstGeom>
              <a:noFill/>
            </p:spPr>
            <p:txBody>
              <a:bodyPr wrap="square" rtlCol="0">
                <a:spAutoFit/>
              </a:bodyPr>
              <a:lstStyle/>
              <a:p>
                <a:r>
                  <a:rPr lang="en-US" sz="5400" b="1" dirty="0">
                    <a:solidFill>
                      <a:schemeClr val="bg1"/>
                    </a:solidFill>
                    <a:ea typeface="Open Sans Bold" panose="020B0806030504020204" pitchFamily="34" charset="0"/>
                    <a:cs typeface="Open Sans Bold" panose="020B0806030504020204" pitchFamily="34" charset="0"/>
                  </a:rPr>
                  <a:t>Email Response Sys</a:t>
                </a:r>
              </a:p>
            </p:txBody>
          </p:sp>
          <p:sp>
            <p:nvSpPr>
              <p:cNvPr id="50" name="Freeform 49"/>
              <p:cNvSpPr/>
              <p:nvPr/>
            </p:nvSpPr>
            <p:spPr>
              <a:xfrm>
                <a:off x="4652237" y="1529372"/>
                <a:ext cx="1672363" cy="3086099"/>
              </a:xfrm>
              <a:custGeom>
                <a:avLst/>
                <a:gdLst>
                  <a:gd name="connsiteX0" fmla="*/ 0 w 1672363"/>
                  <a:gd name="connsiteY0" fmla="*/ 0 h 3086099"/>
                  <a:gd name="connsiteX1" fmla="*/ 129314 w 1672363"/>
                  <a:gd name="connsiteY1" fmla="*/ 0 h 3086099"/>
                  <a:gd name="connsiteX2" fmla="*/ 1672363 w 1672363"/>
                  <a:gd name="connsiteY2" fmla="*/ 1543050 h 3086099"/>
                  <a:gd name="connsiteX3" fmla="*/ 129314 w 1672363"/>
                  <a:gd name="connsiteY3" fmla="*/ 3086099 h 3086099"/>
                  <a:gd name="connsiteX4" fmla="*/ 0 w 1672363"/>
                  <a:gd name="connsiteY4" fmla="*/ 3086099 h 3086099"/>
                  <a:gd name="connsiteX5" fmla="*/ 1543049 w 1672363"/>
                  <a:gd name="connsiteY5" fmla="*/ 1543050 h 3086099"/>
                  <a:gd name="connsiteX6" fmla="*/ 0 w 1672363"/>
                  <a:gd name="connsiteY6" fmla="*/ 0 h 3086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72363" h="3086099">
                    <a:moveTo>
                      <a:pt x="0" y="0"/>
                    </a:moveTo>
                    <a:lnTo>
                      <a:pt x="129314" y="0"/>
                    </a:lnTo>
                    <a:lnTo>
                      <a:pt x="1672363" y="1543050"/>
                    </a:lnTo>
                    <a:lnTo>
                      <a:pt x="129314" y="3086099"/>
                    </a:lnTo>
                    <a:lnTo>
                      <a:pt x="0" y="3086099"/>
                    </a:lnTo>
                    <a:lnTo>
                      <a:pt x="1543049" y="1543050"/>
                    </a:lnTo>
                    <a:lnTo>
                      <a:pt x="0" y="0"/>
                    </a:lnTo>
                    <a:close/>
                  </a:path>
                </a:pathLst>
              </a:custGeom>
              <a:solidFill>
                <a:srgbClr val="A1A6A9"/>
              </a:solidFill>
              <a:ln>
                <a:no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gr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28284" y="4441459"/>
            <a:ext cx="1813542" cy="1541511"/>
          </a:xfrm>
          <a:prstGeom prst="rect">
            <a:avLst/>
          </a:prstGeom>
        </p:spPr>
      </p:pic>
    </p:spTree>
    <p:extLst>
      <p:ext uri="{BB962C8B-B14F-4D97-AF65-F5344CB8AC3E}">
        <p14:creationId xmlns:p14="http://schemas.microsoft.com/office/powerpoint/2010/main" val="9298666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Abstract</a:t>
            </a:r>
            <a:endParaRPr lang="en-IN" dirty="0">
              <a:latin typeface="+mj-lt"/>
            </a:endParaRPr>
          </a:p>
        </p:txBody>
      </p:sp>
      <p:sp>
        <p:nvSpPr>
          <p:cNvPr id="3" name="Content Placeholder 2"/>
          <p:cNvSpPr>
            <a:spLocks noGrp="1"/>
          </p:cNvSpPr>
          <p:nvPr>
            <p:ph idx="1"/>
          </p:nvPr>
        </p:nvSpPr>
        <p:spPr/>
        <p:txBody>
          <a:bodyPr>
            <a:normAutofit fontScale="92500" lnSpcReduction="10000"/>
          </a:bodyPr>
          <a:lstStyle/>
          <a:p>
            <a:pPr algn="just"/>
            <a:r>
              <a:rPr lang="en-US" b="0" i="0" dirty="0">
                <a:solidFill>
                  <a:srgbClr val="000000"/>
                </a:solidFill>
                <a:effectLst/>
              </a:rPr>
              <a:t>The designed advanced automated e-mail response system built with UiPath is meant to make communication workflows on e-mails easier and more efficient. Here is how the system acquires unread e-mails; and analyzes its content, using advanced keyword recognition and conditional reasoning. The system generates contextually appropriate responses via SMTP, matching all the criteria set based on the analysis. The system thus ensures prompt and accurate responses without human intervention. In addition, it tracks every engagement in an Excel file, so there can never be a loss of an overall audit trail comprising recipient details, date, and reply. Having inbuilt error-handling capabilities, the solution incorporates robustness and reliability, making it a good tool for companies to handle customer inquiries, internal communications, and other email-related operations. Simply put, this system not only reduces human workload but also enhances operational efficiency, scalability, and communication productivity in general.</a:t>
            </a:r>
            <a:endParaRPr lang="en-US" dirty="0"/>
          </a:p>
        </p:txBody>
      </p:sp>
    </p:spTree>
    <p:custDataLst>
      <p:tags r:id="rId1"/>
    </p:custDataLst>
    <p:extLst>
      <p:ext uri="{BB962C8B-B14F-4D97-AF65-F5344CB8AC3E}">
        <p14:creationId xmlns:p14="http://schemas.microsoft.com/office/powerpoint/2010/main" val="2540407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Need for the Proposed System</a:t>
            </a:r>
            <a:endParaRPr lang="en-IN" dirty="0">
              <a:latin typeface="+mj-lt"/>
            </a:endParaRPr>
          </a:p>
        </p:txBody>
      </p:sp>
      <p:sp>
        <p:nvSpPr>
          <p:cNvPr id="3" name="Content Placeholder 2"/>
          <p:cNvSpPr>
            <a:spLocks noGrp="1"/>
          </p:cNvSpPr>
          <p:nvPr>
            <p:ph idx="1"/>
          </p:nvPr>
        </p:nvSpPr>
        <p:spPr/>
        <p:txBody>
          <a:bodyPr>
            <a:normAutofit fontScale="92500"/>
          </a:bodyPr>
          <a:lstStyle/>
          <a:p>
            <a:pPr algn="just"/>
            <a:r>
              <a:rPr lang="en-US" dirty="0"/>
              <a:t>The Automated Email Response System is crucial in the fast-moving digital world of today, where communication is time-sensitive. Organizations and individuals are overwhelmed with huge volumes of emails, the majority of which are repetitive queries that require standard responses. The system proposed here addresses this challenge by automating the handling of emails, hence allowing faster response and better customer satisfaction. In this case, the system uses keyword-based filtering to target relevant emails and provide predefined responses based on the content of such messages. All processed emails are logged in order to ensure transparency and as a future reference for monitoring and analytics, thus providing excellent efficiency in managing streams of email traffic in customer support, business operations, or personal email management.</a:t>
            </a:r>
          </a:p>
        </p:txBody>
      </p:sp>
    </p:spTree>
    <p:custDataLst>
      <p:tags r:id="rId1"/>
    </p:custDataLst>
    <p:extLst>
      <p:ext uri="{BB962C8B-B14F-4D97-AF65-F5344CB8AC3E}">
        <p14:creationId xmlns:p14="http://schemas.microsoft.com/office/powerpoint/2010/main" val="35484857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Advantages of the Proposed System</a:t>
            </a:r>
            <a:endParaRPr lang="en-IN" dirty="0">
              <a:latin typeface="+mj-lt"/>
            </a:endParaRPr>
          </a:p>
        </p:txBody>
      </p:sp>
      <p:sp>
        <p:nvSpPr>
          <p:cNvPr id="3" name="Content Placeholder 2"/>
          <p:cNvSpPr>
            <a:spLocks noGrp="1"/>
          </p:cNvSpPr>
          <p:nvPr>
            <p:ph idx="1"/>
          </p:nvPr>
        </p:nvSpPr>
        <p:spPr/>
        <p:txBody>
          <a:bodyPr>
            <a:normAutofit/>
          </a:bodyPr>
          <a:lstStyle/>
          <a:p>
            <a:pPr algn="just"/>
            <a:r>
              <a:rPr lang="en-US" dirty="0"/>
              <a:t>Unmatched Time Optimization:</a:t>
            </a:r>
          </a:p>
          <a:p>
            <a:pPr lvl="1" algn="just"/>
            <a:r>
              <a:rPr lang="en-US" dirty="0"/>
              <a:t>Turn hours of manual email handling into seconds of efficiencies in automation with unprecedented capacity to make organizations respond faster than ever.</a:t>
            </a:r>
          </a:p>
          <a:p>
            <a:pPr algn="just"/>
            <a:r>
              <a:rPr lang="en-US" dirty="0"/>
              <a:t>Precision in Communication:</a:t>
            </a:r>
          </a:p>
          <a:p>
            <a:pPr lvl="1" algn="just"/>
            <a:r>
              <a:rPr lang="en-US" dirty="0"/>
              <a:t>Delivers flawless, preconfigured responses that eliminate human error, ensuring consistent professionalism across every interaction.</a:t>
            </a:r>
          </a:p>
          <a:p>
            <a:pPr algn="just"/>
            <a:r>
              <a:rPr lang="en-US" dirty="0"/>
              <a:t>Round-the-Clock Availability:</a:t>
            </a:r>
          </a:p>
          <a:p>
            <a:pPr lvl="1" algn="just"/>
            <a:r>
              <a:rPr lang="en-US" dirty="0"/>
              <a:t>Operates tirelessly 24/7, ensuring no email is left unanswered, even during off-peak hours, weekends, or holidays.</a:t>
            </a:r>
          </a:p>
          <a:p>
            <a:pPr marL="457200" lvl="1" indent="0" algn="just">
              <a:buNone/>
            </a:pPr>
            <a:endParaRPr lang="en-US" dirty="0"/>
          </a:p>
        </p:txBody>
      </p:sp>
    </p:spTree>
    <p:custDataLst>
      <p:tags r:id="rId1"/>
    </p:custDataLst>
    <p:extLst>
      <p:ext uri="{BB962C8B-B14F-4D97-AF65-F5344CB8AC3E}">
        <p14:creationId xmlns:p14="http://schemas.microsoft.com/office/powerpoint/2010/main" val="13323072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Literature Survey</a:t>
            </a:r>
            <a:endParaRPr lang="en-IN" dirty="0">
              <a:latin typeface="+mj-lt"/>
            </a:endParaRPr>
          </a:p>
        </p:txBody>
      </p:sp>
      <p:sp>
        <p:nvSpPr>
          <p:cNvPr id="3" name="Content Placeholder 2"/>
          <p:cNvSpPr>
            <a:spLocks noGrp="1"/>
          </p:cNvSpPr>
          <p:nvPr>
            <p:ph idx="1"/>
          </p:nvPr>
        </p:nvSpPr>
        <p:spPr/>
        <p:txBody>
          <a:bodyPr>
            <a:normAutofit lnSpcReduction="10000"/>
          </a:bodyPr>
          <a:lstStyle/>
          <a:p>
            <a:pPr algn="just"/>
            <a:r>
              <a:rPr lang="en-IN" dirty="0"/>
              <a:t>Paper: Sentiment Analysis for Automated Email Response Systems</a:t>
            </a:r>
          </a:p>
          <a:p>
            <a:pPr lvl="1" algn="just"/>
            <a:r>
              <a:rPr lang="en-US" dirty="0"/>
              <a:t>Advantages: Utilizes sentiment detection to better augment e-mail responses by understanding user emotions, improving response relevance, and user satisfaction. Effective classifiers of machine learning effectively distinguish between sentiments and thus ensure proper management of inquiries.</a:t>
            </a:r>
          </a:p>
          <a:p>
            <a:pPr lvl="1" algn="just"/>
            <a:r>
              <a:rPr lang="en-US" dirty="0"/>
              <a:t>Disadvantages: Needs plenty of labeled data for training. Resource-hungry system. It is not very agile with very subtle or vague emotions.</a:t>
            </a:r>
            <a:endParaRPr lang="en-IN" dirty="0"/>
          </a:p>
          <a:p>
            <a:pPr algn="just"/>
            <a:r>
              <a:rPr lang="en-US" dirty="0"/>
              <a:t>Paper: Main Approaches to Automated Email Answering</a:t>
            </a:r>
            <a:endParaRPr lang="en-IN" dirty="0"/>
          </a:p>
          <a:p>
            <a:pPr lvl="1" algn="just"/>
            <a:r>
              <a:rPr lang="en-US" dirty="0"/>
              <a:t>Advantages: This paper explores various techniques for email text classification, such as NLP and rule-based filtering to improve efficiency in processing large volumes of emails. This always reduces human workload and ensures quick response.</a:t>
            </a:r>
          </a:p>
          <a:p>
            <a:pPr lvl="1" algn="just"/>
            <a:r>
              <a:rPr lang="en-US" dirty="0"/>
              <a:t>Disadvantages: Cannot handle complex, unstructured queries. Highly domain-specific systems do not generalize well.</a:t>
            </a:r>
          </a:p>
        </p:txBody>
      </p:sp>
    </p:spTree>
    <p:custDataLst>
      <p:tags r:id="rId1"/>
    </p:custDataLst>
    <p:extLst>
      <p:ext uri="{BB962C8B-B14F-4D97-AF65-F5344CB8AC3E}">
        <p14:creationId xmlns:p14="http://schemas.microsoft.com/office/powerpoint/2010/main" val="31064302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Main Objective</a:t>
            </a:r>
            <a:endParaRPr lang="en-IN" dirty="0">
              <a:latin typeface="+mj-lt"/>
            </a:endParaRPr>
          </a:p>
        </p:txBody>
      </p:sp>
      <p:sp>
        <p:nvSpPr>
          <p:cNvPr id="3" name="Content Placeholder 2"/>
          <p:cNvSpPr>
            <a:spLocks noGrp="1"/>
          </p:cNvSpPr>
          <p:nvPr>
            <p:ph idx="1"/>
          </p:nvPr>
        </p:nvSpPr>
        <p:spPr/>
        <p:txBody>
          <a:bodyPr/>
          <a:lstStyle/>
          <a:p>
            <a:pPr algn="just"/>
            <a:r>
              <a:rPr lang="en-US" dirty="0"/>
              <a:t>The Automated Email Response System is primarily designed to facilitate the convenience and enhancement of the email communication process with automatic responses for all the frequently asked queries. It saves time, reduces manual intervention, and ensures error-free and consistent communication by using keyword-based filters and predefined templates. It also tracks and logs email interactions in a structured format, offering transparency and accountability as well as the possibility of analyzing data. This works towards their efficiency, greater user satisfaction, and resource use enhancement for both organizations and individuals.</a:t>
            </a:r>
          </a:p>
        </p:txBody>
      </p:sp>
    </p:spTree>
    <p:custDataLst>
      <p:tags r:id="rId1"/>
    </p:custDataLst>
    <p:extLst>
      <p:ext uri="{BB962C8B-B14F-4D97-AF65-F5344CB8AC3E}">
        <p14:creationId xmlns:p14="http://schemas.microsoft.com/office/powerpoint/2010/main" val="40945783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Architecture</a:t>
            </a:r>
            <a:endParaRPr lang="en-IN" dirty="0">
              <a:latin typeface="+mj-lt"/>
            </a:endParaRPr>
          </a:p>
        </p:txBody>
      </p:sp>
      <p:sp>
        <p:nvSpPr>
          <p:cNvPr id="3" name="Content Placeholder 2"/>
          <p:cNvSpPr>
            <a:spLocks noGrp="1"/>
          </p:cNvSpPr>
          <p:nvPr>
            <p:ph idx="1"/>
          </p:nvPr>
        </p:nvSpPr>
        <p:spPr/>
        <p:txBody>
          <a:bodyPr/>
          <a:lstStyle/>
          <a:p>
            <a:r>
              <a:rPr lang="en-US" dirty="0"/>
              <a:t>Overall structure of my project</a:t>
            </a:r>
          </a:p>
        </p:txBody>
      </p:sp>
      <p:pic>
        <p:nvPicPr>
          <p:cNvPr id="7" name="Picture 6">
            <a:extLst>
              <a:ext uri="{FF2B5EF4-FFF2-40B4-BE49-F238E27FC236}">
                <a16:creationId xmlns:a16="http://schemas.microsoft.com/office/drawing/2014/main" id="{160E8D60-1747-B58F-4ADE-CDD42D20722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868144" y="1043000"/>
            <a:ext cx="2755210" cy="5229200"/>
          </a:xfrm>
          <a:prstGeom prst="rect">
            <a:avLst/>
          </a:prstGeom>
        </p:spPr>
      </p:pic>
    </p:spTree>
    <p:custDataLst>
      <p:tags r:id="rId1"/>
    </p:custDataLst>
    <p:extLst>
      <p:ext uri="{BB962C8B-B14F-4D97-AF65-F5344CB8AC3E}">
        <p14:creationId xmlns:p14="http://schemas.microsoft.com/office/powerpoint/2010/main" val="37622339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System Requirements</a:t>
            </a:r>
            <a:endParaRPr lang="en-IN" dirty="0">
              <a:latin typeface="+mj-lt"/>
            </a:endParaRPr>
          </a:p>
        </p:txBody>
      </p:sp>
      <p:sp>
        <p:nvSpPr>
          <p:cNvPr id="3" name="Content Placeholder 2"/>
          <p:cNvSpPr>
            <a:spLocks noGrp="1"/>
          </p:cNvSpPr>
          <p:nvPr>
            <p:ph idx="1"/>
          </p:nvPr>
        </p:nvSpPr>
        <p:spPr/>
        <p:txBody>
          <a:bodyPr>
            <a:normAutofit fontScale="85000" lnSpcReduction="20000"/>
          </a:bodyPr>
          <a:lstStyle/>
          <a:p>
            <a:pPr algn="just"/>
            <a:r>
              <a:rPr lang="en-IN" b="1" dirty="0"/>
              <a:t>Hardware Requirements</a:t>
            </a:r>
          </a:p>
          <a:p>
            <a:pPr lvl="1" algn="just">
              <a:buFont typeface="+mj-lt"/>
              <a:buAutoNum type="arabicPeriod"/>
            </a:pPr>
            <a:r>
              <a:rPr lang="en-IN" b="1" dirty="0"/>
              <a:t>Processor</a:t>
            </a:r>
            <a:r>
              <a:rPr lang="en-IN" dirty="0"/>
              <a:t>: Dual-core processor (Intel i3 or equivalent) or higher.</a:t>
            </a:r>
          </a:p>
          <a:p>
            <a:pPr lvl="1" algn="just">
              <a:buFont typeface="+mj-lt"/>
              <a:buAutoNum type="arabicPeriod"/>
            </a:pPr>
            <a:r>
              <a:rPr lang="en-IN" b="1" dirty="0"/>
              <a:t>RAM</a:t>
            </a:r>
            <a:r>
              <a:rPr lang="en-IN" dirty="0"/>
              <a:t>: Minimum 8 GB for smooth operation.</a:t>
            </a:r>
          </a:p>
          <a:p>
            <a:pPr lvl="1" algn="just">
              <a:buFont typeface="+mj-lt"/>
              <a:buAutoNum type="arabicPeriod"/>
            </a:pPr>
            <a:r>
              <a:rPr lang="en-IN" b="1" dirty="0"/>
              <a:t>Storage</a:t>
            </a:r>
            <a:r>
              <a:rPr lang="en-IN" dirty="0"/>
              <a:t>: At least 50 GB free space for software, logs, and data storage.</a:t>
            </a:r>
          </a:p>
          <a:p>
            <a:pPr lvl="1" algn="just">
              <a:buFont typeface="+mj-lt"/>
              <a:buAutoNum type="arabicPeriod"/>
            </a:pPr>
            <a:r>
              <a:rPr lang="en-IN" b="1" dirty="0"/>
              <a:t>Display</a:t>
            </a:r>
            <a:r>
              <a:rPr lang="en-IN" dirty="0"/>
              <a:t>: Standard monitor with 1080p resolution.</a:t>
            </a:r>
          </a:p>
          <a:p>
            <a:pPr lvl="1" algn="just">
              <a:buFont typeface="+mj-lt"/>
              <a:buAutoNum type="arabicPeriod"/>
            </a:pPr>
            <a:r>
              <a:rPr lang="en-IN" b="1" dirty="0"/>
              <a:t>Internet Connection</a:t>
            </a:r>
            <a:r>
              <a:rPr lang="en-IN" dirty="0"/>
              <a:t>: Stable broadband connection for email access.</a:t>
            </a:r>
          </a:p>
          <a:p>
            <a:pPr lvl="1" algn="just">
              <a:buFont typeface="+mj-lt"/>
              <a:buAutoNum type="arabicPeriod"/>
            </a:pPr>
            <a:r>
              <a:rPr lang="en-IN" b="1" dirty="0"/>
              <a:t>Peripheral Devices</a:t>
            </a:r>
            <a:r>
              <a:rPr lang="en-IN" dirty="0"/>
              <a:t>: Keyboard, mouse, and optionally a printer for report generation.</a:t>
            </a:r>
          </a:p>
          <a:p>
            <a:pPr algn="just"/>
            <a:r>
              <a:rPr lang="en-IN" b="1" dirty="0"/>
              <a:t>Software Requirements</a:t>
            </a:r>
          </a:p>
          <a:p>
            <a:pPr lvl="1" algn="just">
              <a:buFont typeface="+mj-lt"/>
              <a:buAutoNum type="arabicPeriod"/>
            </a:pPr>
            <a:r>
              <a:rPr lang="en-IN" b="1" dirty="0"/>
              <a:t>Operating System</a:t>
            </a:r>
            <a:r>
              <a:rPr lang="en-IN" dirty="0"/>
              <a:t>: Windows 10 or higher, or macOS 10.13+.</a:t>
            </a:r>
          </a:p>
          <a:p>
            <a:pPr lvl="1" algn="just">
              <a:buFont typeface="+mj-lt"/>
              <a:buAutoNum type="arabicPeriod"/>
            </a:pPr>
            <a:r>
              <a:rPr lang="en-IN" b="1" dirty="0"/>
              <a:t>UiPath Studio</a:t>
            </a:r>
            <a:r>
              <a:rPr lang="en-IN" dirty="0"/>
              <a:t>: Installed and configured (preferably UiPath Cloud Studio).</a:t>
            </a:r>
          </a:p>
          <a:p>
            <a:pPr lvl="1" algn="just">
              <a:buFont typeface="+mj-lt"/>
              <a:buAutoNum type="arabicPeriod"/>
            </a:pPr>
            <a:r>
              <a:rPr lang="en-IN" b="1" dirty="0"/>
              <a:t>Email Client</a:t>
            </a:r>
            <a:r>
              <a:rPr lang="en-IN" dirty="0"/>
              <a:t>: Access to a configured IMAP/SMTP server (e.g., Gmail or any business email).</a:t>
            </a:r>
          </a:p>
          <a:p>
            <a:pPr lvl="1" algn="just">
              <a:buFont typeface="+mj-lt"/>
              <a:buAutoNum type="arabicPeriod"/>
            </a:pPr>
            <a:r>
              <a:rPr lang="en-IN" b="1" dirty="0"/>
              <a:t>Activity Packages</a:t>
            </a:r>
            <a:r>
              <a:rPr lang="en-IN" dirty="0"/>
              <a:t>:</a:t>
            </a:r>
          </a:p>
          <a:p>
            <a:pPr lvl="2" indent="-285750" algn="just">
              <a:buFont typeface="+mj-lt"/>
              <a:buAutoNum type="arabicPeriod"/>
            </a:pPr>
            <a:r>
              <a:rPr lang="en-IN" dirty="0" err="1"/>
              <a:t>UiPath.Mail.Activities</a:t>
            </a:r>
            <a:r>
              <a:rPr lang="en-IN" dirty="0"/>
              <a:t> (for IMAP/SMTP functionality).</a:t>
            </a:r>
          </a:p>
          <a:p>
            <a:pPr lvl="2" indent="-285750" algn="just">
              <a:buFont typeface="+mj-lt"/>
              <a:buAutoNum type="arabicPeriod"/>
            </a:pPr>
            <a:r>
              <a:rPr lang="en-IN" dirty="0" err="1"/>
              <a:t>UiPath.Excel.Activities</a:t>
            </a:r>
            <a:r>
              <a:rPr lang="en-IN" dirty="0"/>
              <a:t> (for logging emails to Excel).</a:t>
            </a:r>
          </a:p>
          <a:p>
            <a:pPr lvl="1" algn="just">
              <a:buFont typeface="+mj-lt"/>
              <a:buAutoNum type="arabicPeriod"/>
            </a:pPr>
            <a:r>
              <a:rPr lang="en-IN" b="1" dirty="0"/>
              <a:t>Microsoft Excel/LibreOffice</a:t>
            </a:r>
            <a:r>
              <a:rPr lang="en-IN" dirty="0"/>
              <a:t>: For managing email logs and reports.</a:t>
            </a:r>
          </a:p>
          <a:p>
            <a:pPr lvl="1" algn="just">
              <a:buFont typeface="+mj-lt"/>
              <a:buAutoNum type="arabicPeriod"/>
            </a:pPr>
            <a:r>
              <a:rPr lang="en-IN" b="1" dirty="0"/>
              <a:t>Programming Frameworks</a:t>
            </a:r>
            <a:r>
              <a:rPr lang="en-IN" dirty="0"/>
              <a:t>: .NET Framework 4.7.2 or higher for UiPath operations.</a:t>
            </a:r>
          </a:p>
        </p:txBody>
      </p:sp>
    </p:spTree>
    <p:custDataLst>
      <p:tags r:id="rId1"/>
    </p:custDataLst>
    <p:extLst>
      <p:ext uri="{BB962C8B-B14F-4D97-AF65-F5344CB8AC3E}">
        <p14:creationId xmlns:p14="http://schemas.microsoft.com/office/powerpoint/2010/main" val="12252271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Functional Description</a:t>
            </a:r>
            <a:endParaRPr lang="en-IN" dirty="0">
              <a:latin typeface="+mj-lt"/>
            </a:endParaRPr>
          </a:p>
        </p:txBody>
      </p:sp>
      <p:sp>
        <p:nvSpPr>
          <p:cNvPr id="3" name="Content Placeholder 2"/>
          <p:cNvSpPr>
            <a:spLocks noGrp="1"/>
          </p:cNvSpPr>
          <p:nvPr>
            <p:ph idx="1"/>
          </p:nvPr>
        </p:nvSpPr>
        <p:spPr/>
        <p:txBody>
          <a:bodyPr>
            <a:normAutofit fontScale="92500" lnSpcReduction="20000"/>
          </a:bodyPr>
          <a:lstStyle/>
          <a:p>
            <a:pPr algn="just"/>
            <a:r>
              <a:rPr lang="en-US" dirty="0"/>
              <a:t>Module Name 1: Email Retrieval and Processing</a:t>
            </a:r>
          </a:p>
          <a:p>
            <a:pPr lvl="1" algn="just"/>
            <a:r>
              <a:rPr lang="en-US" dirty="0"/>
              <a:t>Short Description:</a:t>
            </a:r>
          </a:p>
          <a:p>
            <a:pPr marL="914400" lvl="2" indent="0" algn="just">
              <a:buNone/>
            </a:pPr>
            <a:r>
              <a:rPr lang="en-US" dirty="0"/>
              <a:t>The module uses IMAP to connect with the email server to retrieve unread emails. It will filter the emails according to specific keywords or patterns in the subject or body for processing into further action.</a:t>
            </a:r>
          </a:p>
          <a:p>
            <a:pPr lvl="1" algn="just"/>
            <a:r>
              <a:rPr lang="en-US" dirty="0"/>
              <a:t>Main Functions:</a:t>
            </a:r>
          </a:p>
          <a:p>
            <a:pPr marL="914400" lvl="2" indent="0" algn="just">
              <a:buNone/>
            </a:pPr>
            <a:r>
              <a:rPr lang="en-US" dirty="0"/>
              <a:t>Connect with the email server using IMAP.</a:t>
            </a:r>
          </a:p>
          <a:p>
            <a:pPr marL="914400" lvl="2" indent="0" algn="just">
              <a:buNone/>
            </a:pPr>
            <a:r>
              <a:rPr lang="en-US" dirty="0"/>
              <a:t>Retrieve unread e-mails.</a:t>
            </a:r>
          </a:p>
          <a:p>
            <a:pPr marL="914400" lvl="2" indent="0" algn="just">
              <a:buNone/>
            </a:pPr>
            <a:r>
              <a:rPr lang="en-US" dirty="0"/>
              <a:t>Parses the contents of the e-mail and identifies relevant keywords</a:t>
            </a:r>
          </a:p>
          <a:p>
            <a:pPr marL="914400" lvl="2" indent="0" algn="just">
              <a:buNone/>
            </a:pPr>
            <a:r>
              <a:rPr lang="en-US" dirty="0"/>
              <a:t>Mark processed e-mail as read</a:t>
            </a:r>
          </a:p>
          <a:p>
            <a:pPr marL="914400" lvl="2" indent="0" algn="just">
              <a:buNone/>
            </a:pPr>
            <a:r>
              <a:rPr lang="en-US" dirty="0"/>
              <a:t>DFD / Activity Diagram:</a:t>
            </a:r>
          </a:p>
          <a:p>
            <a:pPr lvl="1" algn="just"/>
            <a:r>
              <a:rPr lang="en-US" dirty="0"/>
              <a:t>DFD:</a:t>
            </a:r>
          </a:p>
          <a:p>
            <a:pPr lvl="2" algn="just"/>
            <a:r>
              <a:rPr lang="en-US" dirty="0"/>
              <a:t>User sets his email server credentials in the system.</a:t>
            </a:r>
          </a:p>
          <a:p>
            <a:pPr lvl="2" algn="just"/>
            <a:r>
              <a:rPr lang="en-US" dirty="0"/>
              <a:t>System connects to email server.</a:t>
            </a:r>
          </a:p>
          <a:p>
            <a:pPr lvl="2" algn="just"/>
            <a:r>
              <a:rPr lang="en-US" dirty="0"/>
              <a:t>Fetches emails and temporarily stores them in a queue.</a:t>
            </a:r>
          </a:p>
          <a:p>
            <a:pPr lvl="2" algn="just"/>
            <a:r>
              <a:rPr lang="en-US" dirty="0"/>
              <a:t>System processes the emails for keyword matching.</a:t>
            </a:r>
          </a:p>
          <a:p>
            <a:pPr lvl="2" algn="just"/>
            <a:r>
              <a:rPr lang="en-US" dirty="0"/>
              <a:t>The matched emails are forwarded to the response module.</a:t>
            </a:r>
          </a:p>
        </p:txBody>
      </p:sp>
    </p:spTree>
    <p:custDataLst>
      <p:tags r:id="rId1"/>
    </p:custDataLst>
    <p:extLst>
      <p:ext uri="{BB962C8B-B14F-4D97-AF65-F5344CB8AC3E}">
        <p14:creationId xmlns:p14="http://schemas.microsoft.com/office/powerpoint/2010/main" val="7845066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747E2-5526-3870-CBC5-1387AD1A2F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50BC05-B768-1A0F-8C24-3FD36078941B}"/>
              </a:ext>
            </a:extLst>
          </p:cNvPr>
          <p:cNvSpPr>
            <a:spLocks noGrp="1"/>
          </p:cNvSpPr>
          <p:nvPr>
            <p:ph type="title"/>
          </p:nvPr>
        </p:nvSpPr>
        <p:spPr/>
        <p:txBody>
          <a:bodyPr>
            <a:normAutofit/>
          </a:bodyPr>
          <a:lstStyle/>
          <a:p>
            <a:r>
              <a:rPr lang="en-US" dirty="0"/>
              <a:t>Functional Description</a:t>
            </a:r>
            <a:endParaRPr lang="en-IN" dirty="0">
              <a:latin typeface="+mj-lt"/>
            </a:endParaRPr>
          </a:p>
        </p:txBody>
      </p:sp>
      <p:sp>
        <p:nvSpPr>
          <p:cNvPr id="3" name="Content Placeholder 2">
            <a:extLst>
              <a:ext uri="{FF2B5EF4-FFF2-40B4-BE49-F238E27FC236}">
                <a16:creationId xmlns:a16="http://schemas.microsoft.com/office/drawing/2014/main" id="{093DD0B9-4389-B92B-76AE-48A0332F1C0D}"/>
              </a:ext>
            </a:extLst>
          </p:cNvPr>
          <p:cNvSpPr>
            <a:spLocks noGrp="1"/>
          </p:cNvSpPr>
          <p:nvPr>
            <p:ph idx="1"/>
          </p:nvPr>
        </p:nvSpPr>
        <p:spPr/>
        <p:txBody>
          <a:bodyPr>
            <a:normAutofit lnSpcReduction="10000"/>
          </a:bodyPr>
          <a:lstStyle/>
          <a:p>
            <a:pPr algn="just"/>
            <a:r>
              <a:rPr lang="en-US" sz="2200" dirty="0"/>
              <a:t>Name of the Module 2: Automated Response and Logging</a:t>
            </a:r>
          </a:p>
          <a:p>
            <a:pPr lvl="1" algn="just">
              <a:lnSpc>
                <a:spcPct val="104000"/>
              </a:lnSpc>
            </a:pPr>
            <a:r>
              <a:rPr lang="en-US" sz="1900" dirty="0"/>
              <a:t>Short Description:</a:t>
            </a:r>
          </a:p>
          <a:p>
            <a:pPr marL="914400" lvl="2" indent="0" algn="just">
              <a:lnSpc>
                <a:spcPct val="104000"/>
              </a:lnSpc>
              <a:buFont typeface="Arial" panose="020B0604020202020204" pitchFamily="34" charset="0"/>
              <a:buNone/>
            </a:pPr>
            <a:r>
              <a:rPr lang="en-US" sz="1900" dirty="0"/>
              <a:t>It auto-generates and sends predefined responses to emails as it matches the defined keywords. It also logs the details of emails such as sender, timestamp, subject, and response status into the Excel sheet for record-keeping.</a:t>
            </a:r>
          </a:p>
          <a:p>
            <a:pPr lvl="1" algn="just">
              <a:lnSpc>
                <a:spcPct val="104000"/>
              </a:lnSpc>
            </a:pPr>
            <a:r>
              <a:rPr lang="en-US" sz="1900" dirty="0"/>
              <a:t>Key Functions:</a:t>
            </a:r>
          </a:p>
          <a:p>
            <a:pPr lvl="2" algn="just">
              <a:lnSpc>
                <a:spcPct val="104000"/>
              </a:lnSpc>
            </a:pPr>
            <a:r>
              <a:rPr lang="en-US" sz="1900" dirty="0"/>
              <a:t>Generate predefined responses based on the matched keywords.</a:t>
            </a:r>
          </a:p>
          <a:p>
            <a:pPr lvl="2" algn="just">
              <a:lnSpc>
                <a:spcPct val="104000"/>
              </a:lnSpc>
            </a:pPr>
            <a:r>
              <a:rPr lang="en-US" sz="1900" dirty="0"/>
              <a:t>SMTP is used for sending the responses.</a:t>
            </a:r>
          </a:p>
          <a:p>
            <a:pPr lvl="2" algn="just">
              <a:lnSpc>
                <a:spcPct val="104000"/>
              </a:lnSpc>
            </a:pPr>
            <a:r>
              <a:rPr lang="en-US" sz="1900" dirty="0"/>
              <a:t>The processed email details are logged in an Excel sheet.</a:t>
            </a:r>
          </a:p>
          <a:p>
            <a:pPr lvl="1" algn="just">
              <a:lnSpc>
                <a:spcPct val="104000"/>
              </a:lnSpc>
            </a:pPr>
            <a:r>
              <a:rPr lang="en-US" sz="1900" dirty="0"/>
              <a:t>DFD:</a:t>
            </a:r>
          </a:p>
          <a:p>
            <a:pPr lvl="2" algn="just">
              <a:lnSpc>
                <a:spcPct val="104000"/>
              </a:lnSpc>
            </a:pPr>
            <a:r>
              <a:rPr lang="en-US" sz="1900" dirty="0"/>
              <a:t>System receives filtered email data from the processing module.</a:t>
            </a:r>
          </a:p>
          <a:p>
            <a:pPr lvl="2" algn="just">
              <a:lnSpc>
                <a:spcPct val="104000"/>
              </a:lnSpc>
            </a:pPr>
            <a:r>
              <a:rPr lang="en-US" sz="1900" dirty="0"/>
              <a:t>Selects a predefined response template based on the keyword identified.</a:t>
            </a:r>
          </a:p>
          <a:p>
            <a:pPr lvl="2" algn="just">
              <a:lnSpc>
                <a:spcPct val="104000"/>
              </a:lnSpc>
            </a:pPr>
            <a:r>
              <a:rPr lang="en-US" sz="1900" dirty="0" err="1"/>
              <a:t>Smtpsends</a:t>
            </a:r>
            <a:r>
              <a:rPr lang="en-US" sz="1900" dirty="0"/>
              <a:t> the response back to the sender.</a:t>
            </a:r>
          </a:p>
          <a:p>
            <a:pPr lvl="2" algn="just">
              <a:lnSpc>
                <a:spcPct val="104000"/>
              </a:lnSpc>
            </a:pPr>
            <a:r>
              <a:rPr lang="en-US" sz="1900" dirty="0"/>
              <a:t>Appends email details (sender, subject, response timestamp) to an Excel log file</a:t>
            </a:r>
          </a:p>
          <a:p>
            <a:pPr lvl="2" algn="just">
              <a:lnSpc>
                <a:spcPct val="104000"/>
              </a:lnSpc>
            </a:pPr>
            <a:r>
              <a:rPr lang="en-US" sz="1900" dirty="0"/>
              <a:t>Updates the status of an email system (e.g., processed or responded to).</a:t>
            </a:r>
          </a:p>
        </p:txBody>
      </p:sp>
    </p:spTree>
    <p:custDataLst>
      <p:tags r:id="rId1"/>
    </p:custDataLst>
    <p:extLst>
      <p:ext uri="{BB962C8B-B14F-4D97-AF65-F5344CB8AC3E}">
        <p14:creationId xmlns:p14="http://schemas.microsoft.com/office/powerpoint/2010/main" val="23321421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Table Design</a:t>
            </a:r>
            <a:endParaRPr lang="en-IN" dirty="0">
              <a:latin typeface="+mj-lt"/>
            </a:endParaRPr>
          </a:p>
        </p:txBody>
      </p:sp>
      <p:sp>
        <p:nvSpPr>
          <p:cNvPr id="3" name="Content Placeholder 2"/>
          <p:cNvSpPr>
            <a:spLocks noGrp="1"/>
          </p:cNvSpPr>
          <p:nvPr>
            <p:ph idx="1"/>
          </p:nvPr>
        </p:nvSpPr>
        <p:spPr/>
        <p:txBody>
          <a:bodyPr/>
          <a:lstStyle/>
          <a:p>
            <a:r>
              <a:rPr lang="en-US" dirty="0"/>
              <a:t>ERD</a:t>
            </a:r>
          </a:p>
        </p:txBody>
      </p:sp>
      <p:pic>
        <p:nvPicPr>
          <p:cNvPr id="5" name="Picture 4">
            <a:extLst>
              <a:ext uri="{FF2B5EF4-FFF2-40B4-BE49-F238E27FC236}">
                <a16:creationId xmlns:a16="http://schemas.microsoft.com/office/drawing/2014/main" id="{6CB7AAF7-8904-1219-6C16-1211D1BFA07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521737"/>
            <a:ext cx="9144000" cy="4345663"/>
          </a:xfrm>
          <a:prstGeom prst="rect">
            <a:avLst/>
          </a:prstGeom>
        </p:spPr>
      </p:pic>
    </p:spTree>
    <p:custDataLst>
      <p:tags r:id="rId1"/>
    </p:custDataLst>
    <p:extLst>
      <p:ext uri="{BB962C8B-B14F-4D97-AF65-F5344CB8AC3E}">
        <p14:creationId xmlns:p14="http://schemas.microsoft.com/office/powerpoint/2010/main" val="16391693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Process Design</a:t>
            </a:r>
            <a:endParaRPr lang="en-IN" dirty="0">
              <a:latin typeface="+mj-lt"/>
            </a:endParaRPr>
          </a:p>
        </p:txBody>
      </p:sp>
      <p:pic>
        <p:nvPicPr>
          <p:cNvPr id="5" name="Content Placeholder 4">
            <a:extLst>
              <a:ext uri="{FF2B5EF4-FFF2-40B4-BE49-F238E27FC236}">
                <a16:creationId xmlns:a16="http://schemas.microsoft.com/office/drawing/2014/main" id="{A42E8395-624F-B803-9349-46BB6BFDE748}"/>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2335161" y="990600"/>
            <a:ext cx="4473677" cy="5334000"/>
          </a:xfrm>
        </p:spPr>
      </p:pic>
    </p:spTree>
    <p:custDataLst>
      <p:tags r:id="rId1"/>
    </p:custDataLst>
    <p:extLst>
      <p:ext uri="{BB962C8B-B14F-4D97-AF65-F5344CB8AC3E}">
        <p14:creationId xmlns:p14="http://schemas.microsoft.com/office/powerpoint/2010/main" val="30234279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Implementation</a:t>
            </a:r>
            <a:endParaRPr lang="en-IN" dirty="0">
              <a:latin typeface="+mj-lt"/>
            </a:endParaRPr>
          </a:p>
        </p:txBody>
      </p:sp>
      <p:sp>
        <p:nvSpPr>
          <p:cNvPr id="3" name="Content Placeholder 2"/>
          <p:cNvSpPr>
            <a:spLocks noGrp="1"/>
          </p:cNvSpPr>
          <p:nvPr>
            <p:ph idx="1"/>
          </p:nvPr>
        </p:nvSpPr>
        <p:spPr/>
        <p:txBody>
          <a:bodyPr>
            <a:normAutofit lnSpcReduction="10000"/>
          </a:bodyPr>
          <a:lstStyle/>
          <a:p>
            <a:pPr algn="just"/>
            <a:r>
              <a:rPr lang="en-US" dirty="0"/>
              <a:t>Implementation of Module 1: Email Fetching and Filtering</a:t>
            </a:r>
          </a:p>
          <a:p>
            <a:pPr algn="just"/>
            <a:r>
              <a:rPr lang="en-US" dirty="0"/>
              <a:t>Description:</a:t>
            </a:r>
          </a:p>
          <a:p>
            <a:pPr lvl="1" algn="just"/>
            <a:r>
              <a:rPr lang="en-US" dirty="0"/>
              <a:t>This module connects to the IMAP server to fetch unread emails and filters out specific keywords in the subject or body. All are meant that only related emails will be forwarded for process while other related emails are ignored.</a:t>
            </a:r>
          </a:p>
          <a:p>
            <a:pPr algn="just"/>
            <a:r>
              <a:rPr lang="en-US" dirty="0"/>
              <a:t>Steps</a:t>
            </a:r>
          </a:p>
          <a:p>
            <a:pPr lvl="1" algn="just"/>
            <a:r>
              <a:rPr lang="en-US" dirty="0"/>
              <a:t>IMAP settings	</a:t>
            </a:r>
          </a:p>
          <a:p>
            <a:pPr lvl="1" algn="just"/>
            <a:r>
              <a:rPr lang="en-US" dirty="0"/>
              <a:t>Enter your IMAP credentials email, password, server address and port)</a:t>
            </a:r>
          </a:p>
          <a:p>
            <a:pPr lvl="1" algn="just"/>
            <a:r>
              <a:rPr lang="en-US" dirty="0"/>
              <a:t>Enable access of your email account to its IMAP service.</a:t>
            </a:r>
          </a:p>
          <a:p>
            <a:pPr lvl="1" algn="just"/>
            <a:r>
              <a:rPr lang="en-US" dirty="0"/>
              <a:t>Use the Get IMAP Mail Messages activity to retrieve unread emails.</a:t>
            </a:r>
          </a:p>
          <a:p>
            <a:pPr lvl="1" algn="just"/>
            <a:r>
              <a:rPr lang="en-US" dirty="0"/>
              <a:t>Then loop through the emails with a For Each loop.</a:t>
            </a:r>
          </a:p>
          <a:p>
            <a:pPr lvl="1" algn="just"/>
            <a:r>
              <a:rPr lang="en-US" dirty="0"/>
              <a:t>Use the keyword filter  that checks in the subject and body of the email for keywords.</a:t>
            </a:r>
          </a:p>
        </p:txBody>
      </p:sp>
    </p:spTree>
    <p:custDataLst>
      <p:tags r:id="rId1"/>
    </p:custDataLst>
    <p:extLst>
      <p:ext uri="{BB962C8B-B14F-4D97-AF65-F5344CB8AC3E}">
        <p14:creationId xmlns:p14="http://schemas.microsoft.com/office/powerpoint/2010/main" val="17694729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6B665-C1FC-349A-51B3-738B621A89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9A1C5C-C6E7-8079-6FC5-D26CFB87B20F}"/>
              </a:ext>
            </a:extLst>
          </p:cNvPr>
          <p:cNvSpPr>
            <a:spLocks noGrp="1"/>
          </p:cNvSpPr>
          <p:nvPr>
            <p:ph type="title"/>
          </p:nvPr>
        </p:nvSpPr>
        <p:spPr/>
        <p:txBody>
          <a:bodyPr>
            <a:normAutofit/>
          </a:bodyPr>
          <a:lstStyle/>
          <a:p>
            <a:r>
              <a:rPr lang="en-US" dirty="0"/>
              <a:t>Implementation</a:t>
            </a:r>
            <a:endParaRPr lang="en-IN" dirty="0">
              <a:latin typeface="+mj-lt"/>
            </a:endParaRPr>
          </a:p>
        </p:txBody>
      </p:sp>
      <p:pic>
        <p:nvPicPr>
          <p:cNvPr id="4" name="Content Placeholder 3">
            <a:extLst>
              <a:ext uri="{FF2B5EF4-FFF2-40B4-BE49-F238E27FC236}">
                <a16:creationId xmlns:a16="http://schemas.microsoft.com/office/drawing/2014/main" id="{6758C976-E94C-F3B8-0FC4-C44965C66005}"/>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314156" y="1232756"/>
            <a:ext cx="8515687" cy="4788532"/>
          </a:xfrm>
          <a:prstGeom prst="rect">
            <a:avLst/>
          </a:prstGeom>
        </p:spPr>
      </p:pic>
    </p:spTree>
    <p:custDataLst>
      <p:tags r:id="rId1"/>
    </p:custDataLst>
    <p:extLst>
      <p:ext uri="{BB962C8B-B14F-4D97-AF65-F5344CB8AC3E}">
        <p14:creationId xmlns:p14="http://schemas.microsoft.com/office/powerpoint/2010/main" val="38143794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0968F-0E55-CE8E-B517-687F13FB77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8E7896-686F-38F6-FC13-EC12F7D7376C}"/>
              </a:ext>
            </a:extLst>
          </p:cNvPr>
          <p:cNvSpPr>
            <a:spLocks noGrp="1"/>
          </p:cNvSpPr>
          <p:nvPr>
            <p:ph type="title"/>
          </p:nvPr>
        </p:nvSpPr>
        <p:spPr/>
        <p:txBody>
          <a:bodyPr>
            <a:normAutofit/>
          </a:bodyPr>
          <a:lstStyle/>
          <a:p>
            <a:r>
              <a:rPr lang="en-US" dirty="0"/>
              <a:t>Implementation</a:t>
            </a:r>
            <a:endParaRPr lang="en-IN" dirty="0">
              <a:latin typeface="+mj-lt"/>
            </a:endParaRPr>
          </a:p>
        </p:txBody>
      </p:sp>
      <p:sp>
        <p:nvSpPr>
          <p:cNvPr id="3" name="Content Placeholder 2">
            <a:extLst>
              <a:ext uri="{FF2B5EF4-FFF2-40B4-BE49-F238E27FC236}">
                <a16:creationId xmlns:a16="http://schemas.microsoft.com/office/drawing/2014/main" id="{6C547858-EFE5-6577-5412-B845425D1EC3}"/>
              </a:ext>
            </a:extLst>
          </p:cNvPr>
          <p:cNvSpPr>
            <a:spLocks noGrp="1"/>
          </p:cNvSpPr>
          <p:nvPr>
            <p:ph idx="1"/>
          </p:nvPr>
        </p:nvSpPr>
        <p:spPr/>
        <p:txBody>
          <a:bodyPr>
            <a:normAutofit/>
          </a:bodyPr>
          <a:lstStyle/>
          <a:p>
            <a:pPr algn="just"/>
            <a:r>
              <a:rPr lang="en-US" dirty="0"/>
              <a:t>Implementation Module 2 Automated Response and Logging</a:t>
            </a:r>
          </a:p>
          <a:p>
            <a:pPr algn="just"/>
            <a:r>
              <a:rPr lang="en-US" dirty="0"/>
              <a:t>Description:</a:t>
            </a:r>
          </a:p>
          <a:p>
            <a:pPr lvl="1" algn="just"/>
            <a:r>
              <a:rPr lang="en-US" dirty="0"/>
              <a:t>This module sends an automated response to filtered emails using SMTP but logs the details (recipient email, subject, timestamp) into an Excel file for tracking and auditing purposes.</a:t>
            </a:r>
          </a:p>
          <a:p>
            <a:pPr algn="just"/>
            <a:r>
              <a:rPr lang="en-US" dirty="0"/>
              <a:t>Steps:</a:t>
            </a:r>
          </a:p>
          <a:p>
            <a:pPr lvl="1" algn="just"/>
            <a:r>
              <a:rPr lang="en-US" dirty="0"/>
              <a:t>Configure SMTP settings</a:t>
            </a:r>
          </a:p>
          <a:p>
            <a:pPr lvl="1" algn="just"/>
            <a:r>
              <a:rPr lang="en-US" dirty="0"/>
              <a:t>Input SMTP credentials which include email, password, server, and port.</a:t>
            </a:r>
          </a:p>
          <a:p>
            <a:pPr lvl="1" algn="just"/>
            <a:r>
              <a:rPr lang="en-US" dirty="0"/>
              <a:t>Use the Send SMTP Mail Message activity to send emails.</a:t>
            </a:r>
          </a:p>
          <a:p>
            <a:pPr lvl="1" algn="just"/>
            <a:r>
              <a:rPr lang="en-US" dirty="0"/>
              <a:t>Write a predefined automatic response, for example, "Thanks for reaching out. We will get back to you shortly.".</a:t>
            </a:r>
          </a:p>
          <a:p>
            <a:pPr lvl="1" algn="just"/>
            <a:r>
              <a:rPr lang="en-US" dirty="0"/>
              <a:t>Log the email details, namely the recipient, subject and timestamp, using Excel Application Scope and Write Cell activities.</a:t>
            </a:r>
          </a:p>
        </p:txBody>
      </p:sp>
    </p:spTree>
    <p:custDataLst>
      <p:tags r:id="rId1"/>
    </p:custDataLst>
    <p:extLst>
      <p:ext uri="{BB962C8B-B14F-4D97-AF65-F5344CB8AC3E}">
        <p14:creationId xmlns:p14="http://schemas.microsoft.com/office/powerpoint/2010/main" val="30156750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Testing</a:t>
            </a:r>
            <a:endParaRPr lang="en-IN" dirty="0">
              <a:latin typeface="+mj-lt"/>
            </a:endParaRPr>
          </a:p>
        </p:txBody>
      </p:sp>
      <p:sp>
        <p:nvSpPr>
          <p:cNvPr id="3" name="Content Placeholder 2"/>
          <p:cNvSpPr>
            <a:spLocks noGrp="1"/>
          </p:cNvSpPr>
          <p:nvPr>
            <p:ph idx="1"/>
          </p:nvPr>
        </p:nvSpPr>
        <p:spPr/>
        <p:txBody>
          <a:bodyPr/>
          <a:lstStyle/>
          <a:p>
            <a:r>
              <a:rPr lang="en-US" dirty="0"/>
              <a:t>Sender Mail</a:t>
            </a:r>
          </a:p>
        </p:txBody>
      </p:sp>
      <p:pic>
        <p:nvPicPr>
          <p:cNvPr id="4" name="Picture 3">
            <a:extLst>
              <a:ext uri="{FF2B5EF4-FFF2-40B4-BE49-F238E27FC236}">
                <a16:creationId xmlns:a16="http://schemas.microsoft.com/office/drawing/2014/main" id="{72893047-31BE-6D8D-04A5-CAF25926AB3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9032" y="1520788"/>
            <a:ext cx="8305936" cy="4671974"/>
          </a:xfrm>
          <a:prstGeom prst="rect">
            <a:avLst/>
          </a:prstGeom>
        </p:spPr>
      </p:pic>
    </p:spTree>
    <p:custDataLst>
      <p:tags r:id="rId1"/>
    </p:custDataLst>
    <p:extLst>
      <p:ext uri="{BB962C8B-B14F-4D97-AF65-F5344CB8AC3E}">
        <p14:creationId xmlns:p14="http://schemas.microsoft.com/office/powerpoint/2010/main" val="19213275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614651-545B-7AC0-3225-131C41E46E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BC2315-454B-B66E-46FC-13199E818335}"/>
              </a:ext>
            </a:extLst>
          </p:cNvPr>
          <p:cNvSpPr>
            <a:spLocks noGrp="1"/>
          </p:cNvSpPr>
          <p:nvPr>
            <p:ph type="title"/>
          </p:nvPr>
        </p:nvSpPr>
        <p:spPr/>
        <p:txBody>
          <a:bodyPr>
            <a:normAutofit/>
          </a:bodyPr>
          <a:lstStyle/>
          <a:p>
            <a:r>
              <a:rPr lang="en-US" dirty="0"/>
              <a:t>Testing</a:t>
            </a:r>
            <a:endParaRPr lang="en-IN" dirty="0">
              <a:latin typeface="+mj-lt"/>
            </a:endParaRPr>
          </a:p>
        </p:txBody>
      </p:sp>
      <p:sp>
        <p:nvSpPr>
          <p:cNvPr id="3" name="Content Placeholder 2">
            <a:extLst>
              <a:ext uri="{FF2B5EF4-FFF2-40B4-BE49-F238E27FC236}">
                <a16:creationId xmlns:a16="http://schemas.microsoft.com/office/drawing/2014/main" id="{F43CDA15-3187-3D94-AA4F-1A025EB9CAA2}"/>
              </a:ext>
            </a:extLst>
          </p:cNvPr>
          <p:cNvSpPr>
            <a:spLocks noGrp="1"/>
          </p:cNvSpPr>
          <p:nvPr>
            <p:ph idx="1"/>
          </p:nvPr>
        </p:nvSpPr>
        <p:spPr/>
        <p:txBody>
          <a:bodyPr/>
          <a:lstStyle/>
          <a:p>
            <a:r>
              <a:rPr lang="en-US" dirty="0"/>
              <a:t>Receiver Mail (Unread)</a:t>
            </a:r>
          </a:p>
        </p:txBody>
      </p:sp>
      <p:pic>
        <p:nvPicPr>
          <p:cNvPr id="6" name="Picture 5">
            <a:extLst>
              <a:ext uri="{FF2B5EF4-FFF2-40B4-BE49-F238E27FC236}">
                <a16:creationId xmlns:a16="http://schemas.microsoft.com/office/drawing/2014/main" id="{3ED5AA94-A575-9682-D42B-715FB355052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59532" y="1583188"/>
            <a:ext cx="8424936" cy="4738910"/>
          </a:xfrm>
          <a:prstGeom prst="rect">
            <a:avLst/>
          </a:prstGeom>
        </p:spPr>
      </p:pic>
    </p:spTree>
    <p:custDataLst>
      <p:tags r:id="rId1"/>
    </p:custDataLst>
    <p:extLst>
      <p:ext uri="{BB962C8B-B14F-4D97-AF65-F5344CB8AC3E}">
        <p14:creationId xmlns:p14="http://schemas.microsoft.com/office/powerpoint/2010/main" val="16138648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8B93B-EAF7-C660-3732-415876AFB3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8826E3-FD11-DDD8-905F-B0F574BA81F0}"/>
              </a:ext>
            </a:extLst>
          </p:cNvPr>
          <p:cNvSpPr>
            <a:spLocks noGrp="1"/>
          </p:cNvSpPr>
          <p:nvPr>
            <p:ph type="title"/>
          </p:nvPr>
        </p:nvSpPr>
        <p:spPr/>
        <p:txBody>
          <a:bodyPr>
            <a:normAutofit/>
          </a:bodyPr>
          <a:lstStyle/>
          <a:p>
            <a:r>
              <a:rPr lang="en-US" dirty="0"/>
              <a:t>Testing</a:t>
            </a:r>
            <a:endParaRPr lang="en-IN" dirty="0">
              <a:latin typeface="+mj-lt"/>
            </a:endParaRPr>
          </a:p>
        </p:txBody>
      </p:sp>
      <p:sp>
        <p:nvSpPr>
          <p:cNvPr id="3" name="Content Placeholder 2">
            <a:extLst>
              <a:ext uri="{FF2B5EF4-FFF2-40B4-BE49-F238E27FC236}">
                <a16:creationId xmlns:a16="http://schemas.microsoft.com/office/drawing/2014/main" id="{19F89669-D54E-BC5C-17D7-57E14D8AB475}"/>
              </a:ext>
            </a:extLst>
          </p:cNvPr>
          <p:cNvSpPr>
            <a:spLocks noGrp="1"/>
          </p:cNvSpPr>
          <p:nvPr>
            <p:ph idx="1"/>
          </p:nvPr>
        </p:nvSpPr>
        <p:spPr/>
        <p:txBody>
          <a:bodyPr/>
          <a:lstStyle/>
          <a:p>
            <a:r>
              <a:rPr lang="en-US" dirty="0"/>
              <a:t>Mail Read</a:t>
            </a:r>
          </a:p>
        </p:txBody>
      </p:sp>
      <p:pic>
        <p:nvPicPr>
          <p:cNvPr id="4" name="Picture 3">
            <a:extLst>
              <a:ext uri="{FF2B5EF4-FFF2-40B4-BE49-F238E27FC236}">
                <a16:creationId xmlns:a16="http://schemas.microsoft.com/office/drawing/2014/main" id="{99D38050-FD5A-2C91-8D8F-3FA8DDE699C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23528" y="1545187"/>
            <a:ext cx="8496944" cy="4779413"/>
          </a:xfrm>
          <a:prstGeom prst="rect">
            <a:avLst/>
          </a:prstGeom>
        </p:spPr>
      </p:pic>
    </p:spTree>
    <p:custDataLst>
      <p:tags r:id="rId1"/>
    </p:custDataLst>
    <p:extLst>
      <p:ext uri="{BB962C8B-B14F-4D97-AF65-F5344CB8AC3E}">
        <p14:creationId xmlns:p14="http://schemas.microsoft.com/office/powerpoint/2010/main" val="15627924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6B36C0-E871-5B67-3C71-A2788A05C7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1A31B5-5DE5-3413-4085-B8F553067B66}"/>
              </a:ext>
            </a:extLst>
          </p:cNvPr>
          <p:cNvSpPr>
            <a:spLocks noGrp="1"/>
          </p:cNvSpPr>
          <p:nvPr>
            <p:ph type="title"/>
          </p:nvPr>
        </p:nvSpPr>
        <p:spPr/>
        <p:txBody>
          <a:bodyPr>
            <a:normAutofit/>
          </a:bodyPr>
          <a:lstStyle/>
          <a:p>
            <a:r>
              <a:rPr lang="en-US" dirty="0"/>
              <a:t>Testing</a:t>
            </a:r>
            <a:endParaRPr lang="en-IN" dirty="0">
              <a:latin typeface="+mj-lt"/>
            </a:endParaRPr>
          </a:p>
        </p:txBody>
      </p:sp>
      <p:sp>
        <p:nvSpPr>
          <p:cNvPr id="3" name="Content Placeholder 2">
            <a:extLst>
              <a:ext uri="{FF2B5EF4-FFF2-40B4-BE49-F238E27FC236}">
                <a16:creationId xmlns:a16="http://schemas.microsoft.com/office/drawing/2014/main" id="{AE3F7390-A781-0A30-5631-3E54E9453FF9}"/>
              </a:ext>
            </a:extLst>
          </p:cNvPr>
          <p:cNvSpPr>
            <a:spLocks noGrp="1"/>
          </p:cNvSpPr>
          <p:nvPr>
            <p:ph idx="1"/>
          </p:nvPr>
        </p:nvSpPr>
        <p:spPr/>
        <p:txBody>
          <a:bodyPr/>
          <a:lstStyle/>
          <a:p>
            <a:r>
              <a:rPr lang="en-US" dirty="0"/>
              <a:t>Mail Read</a:t>
            </a:r>
          </a:p>
        </p:txBody>
      </p:sp>
      <p:pic>
        <p:nvPicPr>
          <p:cNvPr id="5" name="Picture 4">
            <a:extLst>
              <a:ext uri="{FF2B5EF4-FFF2-40B4-BE49-F238E27FC236}">
                <a16:creationId xmlns:a16="http://schemas.microsoft.com/office/drawing/2014/main" id="{7A144EB1-6B20-0AC1-F9E1-C7717F1720E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03492" y="1635144"/>
            <a:ext cx="8337015" cy="4689456"/>
          </a:xfrm>
          <a:prstGeom prst="rect">
            <a:avLst/>
          </a:prstGeom>
        </p:spPr>
      </p:pic>
    </p:spTree>
    <p:custDataLst>
      <p:tags r:id="rId1"/>
    </p:custDataLst>
    <p:extLst>
      <p:ext uri="{BB962C8B-B14F-4D97-AF65-F5344CB8AC3E}">
        <p14:creationId xmlns:p14="http://schemas.microsoft.com/office/powerpoint/2010/main" val="21550071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FFA1C3-3ADE-59BF-30A0-A91AB08539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A71F90-6641-481F-4408-6E868C2A363F}"/>
              </a:ext>
            </a:extLst>
          </p:cNvPr>
          <p:cNvSpPr>
            <a:spLocks noGrp="1"/>
          </p:cNvSpPr>
          <p:nvPr>
            <p:ph type="title"/>
          </p:nvPr>
        </p:nvSpPr>
        <p:spPr/>
        <p:txBody>
          <a:bodyPr>
            <a:normAutofit/>
          </a:bodyPr>
          <a:lstStyle/>
          <a:p>
            <a:r>
              <a:rPr lang="en-US" dirty="0"/>
              <a:t>Testing</a:t>
            </a:r>
            <a:endParaRPr lang="en-IN" dirty="0">
              <a:latin typeface="+mj-lt"/>
            </a:endParaRPr>
          </a:p>
        </p:txBody>
      </p:sp>
      <p:sp>
        <p:nvSpPr>
          <p:cNvPr id="3" name="Content Placeholder 2">
            <a:extLst>
              <a:ext uri="{FF2B5EF4-FFF2-40B4-BE49-F238E27FC236}">
                <a16:creationId xmlns:a16="http://schemas.microsoft.com/office/drawing/2014/main" id="{FF830733-3712-EC95-CF2B-BFA845BAF519}"/>
              </a:ext>
            </a:extLst>
          </p:cNvPr>
          <p:cNvSpPr>
            <a:spLocks noGrp="1"/>
          </p:cNvSpPr>
          <p:nvPr>
            <p:ph idx="1"/>
          </p:nvPr>
        </p:nvSpPr>
        <p:spPr/>
        <p:txBody>
          <a:bodyPr/>
          <a:lstStyle/>
          <a:p>
            <a:r>
              <a:rPr lang="en-US" dirty="0"/>
              <a:t>Mail Acknowledged</a:t>
            </a:r>
          </a:p>
        </p:txBody>
      </p:sp>
      <p:pic>
        <p:nvPicPr>
          <p:cNvPr id="4" name="Picture 3">
            <a:extLst>
              <a:ext uri="{FF2B5EF4-FFF2-40B4-BE49-F238E27FC236}">
                <a16:creationId xmlns:a16="http://schemas.microsoft.com/office/drawing/2014/main" id="{2AAE31FB-3E6C-4465-4596-D3681B43412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5848" y="1592796"/>
            <a:ext cx="8412303" cy="4731804"/>
          </a:xfrm>
          <a:prstGeom prst="rect">
            <a:avLst/>
          </a:prstGeom>
        </p:spPr>
      </p:pic>
    </p:spTree>
    <p:custDataLst>
      <p:tags r:id="rId1"/>
    </p:custDataLst>
    <p:extLst>
      <p:ext uri="{BB962C8B-B14F-4D97-AF65-F5344CB8AC3E}">
        <p14:creationId xmlns:p14="http://schemas.microsoft.com/office/powerpoint/2010/main" val="15108172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016E6-706A-0651-A0A9-AF75C6FF5B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C8B09E-2788-E32D-2163-42BCAAD343C2}"/>
              </a:ext>
            </a:extLst>
          </p:cNvPr>
          <p:cNvSpPr>
            <a:spLocks noGrp="1"/>
          </p:cNvSpPr>
          <p:nvPr>
            <p:ph type="title"/>
          </p:nvPr>
        </p:nvSpPr>
        <p:spPr/>
        <p:txBody>
          <a:bodyPr>
            <a:normAutofit/>
          </a:bodyPr>
          <a:lstStyle/>
          <a:p>
            <a:r>
              <a:rPr lang="en-US" dirty="0"/>
              <a:t>Testing</a:t>
            </a:r>
            <a:endParaRPr lang="en-IN" dirty="0">
              <a:latin typeface="+mj-lt"/>
            </a:endParaRPr>
          </a:p>
        </p:txBody>
      </p:sp>
      <p:sp>
        <p:nvSpPr>
          <p:cNvPr id="3" name="Content Placeholder 2">
            <a:extLst>
              <a:ext uri="{FF2B5EF4-FFF2-40B4-BE49-F238E27FC236}">
                <a16:creationId xmlns:a16="http://schemas.microsoft.com/office/drawing/2014/main" id="{7C808E33-8B41-A84B-64EC-6EAEBDC69AE2}"/>
              </a:ext>
            </a:extLst>
          </p:cNvPr>
          <p:cNvSpPr>
            <a:spLocks noGrp="1"/>
          </p:cNvSpPr>
          <p:nvPr>
            <p:ph idx="1"/>
          </p:nvPr>
        </p:nvSpPr>
        <p:spPr/>
        <p:txBody>
          <a:bodyPr/>
          <a:lstStyle/>
          <a:p>
            <a:r>
              <a:rPr lang="en-US" dirty="0"/>
              <a:t>Mail Sent Excel Logging</a:t>
            </a:r>
          </a:p>
        </p:txBody>
      </p:sp>
      <p:pic>
        <p:nvPicPr>
          <p:cNvPr id="5" name="Picture 4">
            <a:extLst>
              <a:ext uri="{FF2B5EF4-FFF2-40B4-BE49-F238E27FC236}">
                <a16:creationId xmlns:a16="http://schemas.microsoft.com/office/drawing/2014/main" id="{4A8125FF-C53A-FBAC-1B8A-6643E54638A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12808" y="1533128"/>
            <a:ext cx="8518383" cy="4791472"/>
          </a:xfrm>
          <a:prstGeom prst="rect">
            <a:avLst/>
          </a:prstGeom>
        </p:spPr>
      </p:pic>
    </p:spTree>
    <p:custDataLst>
      <p:tags r:id="rId1"/>
    </p:custDataLst>
    <p:extLst>
      <p:ext uri="{BB962C8B-B14F-4D97-AF65-F5344CB8AC3E}">
        <p14:creationId xmlns:p14="http://schemas.microsoft.com/office/powerpoint/2010/main" val="27832989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Conclusions</a:t>
            </a:r>
            <a:endParaRPr lang="en-IN" dirty="0">
              <a:latin typeface="+mj-lt"/>
            </a:endParaRPr>
          </a:p>
        </p:txBody>
      </p:sp>
      <p:sp>
        <p:nvSpPr>
          <p:cNvPr id="3" name="Content Placeholder 2"/>
          <p:cNvSpPr>
            <a:spLocks noGrp="1"/>
          </p:cNvSpPr>
          <p:nvPr>
            <p:ph idx="1"/>
          </p:nvPr>
        </p:nvSpPr>
        <p:spPr/>
        <p:txBody>
          <a:bodyPr/>
          <a:lstStyle/>
          <a:p>
            <a:pPr algn="just"/>
            <a:r>
              <a:rPr lang="en-US" dirty="0"/>
              <a:t>The Automated Email Handling System, has shown significant improvements in the process of streamlining and automating an email communication management process. The integrated modular design has done well in overcoming major challenges attributed to the conventional or traditional modes of email handling that are handled manually. During the project, reducing response times, increasing the accuracy of replies with automation while being scalable enough to maintain maximum adaptability into future upgrades was of paramount importance.</a:t>
            </a:r>
          </a:p>
        </p:txBody>
      </p:sp>
    </p:spTree>
    <p:custDataLst>
      <p:tags r:id="rId1"/>
    </p:custDataLst>
    <p:extLst>
      <p:ext uri="{BB962C8B-B14F-4D97-AF65-F5344CB8AC3E}">
        <p14:creationId xmlns:p14="http://schemas.microsoft.com/office/powerpoint/2010/main" val="7153749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Future Enhancement</a:t>
            </a:r>
            <a:endParaRPr lang="en-IN" dirty="0">
              <a:latin typeface="+mj-lt"/>
            </a:endParaRPr>
          </a:p>
        </p:txBody>
      </p:sp>
      <p:sp>
        <p:nvSpPr>
          <p:cNvPr id="3" name="Content Placeholder 2"/>
          <p:cNvSpPr>
            <a:spLocks noGrp="1"/>
          </p:cNvSpPr>
          <p:nvPr>
            <p:ph idx="1"/>
          </p:nvPr>
        </p:nvSpPr>
        <p:spPr/>
        <p:txBody>
          <a:bodyPr>
            <a:normAutofit fontScale="77500" lnSpcReduction="20000"/>
          </a:bodyPr>
          <a:lstStyle/>
          <a:p>
            <a:pPr algn="just"/>
            <a:r>
              <a:rPr lang="en-US" dirty="0"/>
              <a:t>Improved Keyword Matching:</a:t>
            </a:r>
          </a:p>
          <a:p>
            <a:pPr lvl="1" algn="just"/>
            <a:r>
              <a:rPr lang="en-US" dirty="0"/>
              <a:t>Work on advanced NLP methods that make detailed email content analysis.</a:t>
            </a:r>
          </a:p>
          <a:p>
            <a:pPr lvl="1" algn="just"/>
            <a:r>
              <a:rPr lang="en-US" dirty="0"/>
              <a:t>Apply appropriate machine learning models to classify and categorize the email so as to improve the detection of the keyword accurately.</a:t>
            </a:r>
          </a:p>
          <a:p>
            <a:pPr algn="just"/>
            <a:r>
              <a:rPr lang="en-US" dirty="0"/>
              <a:t>Personalized Email Responses:</a:t>
            </a:r>
          </a:p>
          <a:p>
            <a:pPr lvl="1" algn="just"/>
            <a:r>
              <a:rPr lang="en-US" dirty="0"/>
              <a:t>Respond dynamically according to the context of the email, like the sender's name, type of question, or the urgency.</a:t>
            </a:r>
          </a:p>
          <a:p>
            <a:pPr lvl="1" algn="just"/>
            <a:r>
              <a:rPr lang="en-US" dirty="0"/>
              <a:t>Sustain a depository of templates according to types of queries, such as technical support and sales inquiries.</a:t>
            </a:r>
          </a:p>
          <a:p>
            <a:pPr algn="just"/>
            <a:r>
              <a:rPr lang="en-US" dirty="0"/>
              <a:t>Multi-Account Support:</a:t>
            </a:r>
          </a:p>
          <a:p>
            <a:pPr lvl="1" algn="just"/>
            <a:r>
              <a:rPr lang="en-US" dirty="0"/>
              <a:t>Handle multiple email accounts; this will enable an organization to operate numerous inboxes.</a:t>
            </a:r>
          </a:p>
          <a:p>
            <a:pPr algn="just"/>
            <a:r>
              <a:rPr lang="en-US" dirty="0"/>
              <a:t>Attachment Handling</a:t>
            </a:r>
          </a:p>
          <a:p>
            <a:pPr lvl="1" algn="just"/>
            <a:r>
              <a:rPr lang="en-US" dirty="0"/>
              <a:t>Attachment handling including download, analysis, or response based on attachments.</a:t>
            </a:r>
          </a:p>
          <a:p>
            <a:pPr algn="just"/>
            <a:r>
              <a:rPr lang="en-US" dirty="0"/>
              <a:t>Dashboard Integration</a:t>
            </a:r>
          </a:p>
          <a:p>
            <a:pPr lvl="1" algn="just"/>
            <a:r>
              <a:rPr lang="en-US" dirty="0"/>
              <a:t>User-friendly dashboard to report and monitor real-time email processing.</a:t>
            </a:r>
          </a:p>
          <a:p>
            <a:pPr lvl="1" algn="just"/>
            <a:r>
              <a:rPr lang="en-US" dirty="0"/>
              <a:t>Statistics display such as the number of emails processed, responses sent, and errors encountered.</a:t>
            </a:r>
          </a:p>
        </p:txBody>
      </p:sp>
    </p:spTree>
    <p:custDataLst>
      <p:tags r:id="rId1"/>
    </p:custDataLst>
    <p:extLst>
      <p:ext uri="{BB962C8B-B14F-4D97-AF65-F5344CB8AC3E}">
        <p14:creationId xmlns:p14="http://schemas.microsoft.com/office/powerpoint/2010/main" val="21108532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1116A-D804-994E-7B3A-7DEE0CE84C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0C58BD-05BA-4B43-F4BB-CE67FA3B1946}"/>
              </a:ext>
            </a:extLst>
          </p:cNvPr>
          <p:cNvSpPr>
            <a:spLocks noGrp="1"/>
          </p:cNvSpPr>
          <p:nvPr>
            <p:ph type="title"/>
          </p:nvPr>
        </p:nvSpPr>
        <p:spPr/>
        <p:txBody>
          <a:bodyPr>
            <a:normAutofit/>
          </a:bodyPr>
          <a:lstStyle/>
          <a:p>
            <a:r>
              <a:rPr lang="en-US" dirty="0"/>
              <a:t>IEEE Paper</a:t>
            </a:r>
            <a:endParaRPr lang="en-IN" dirty="0">
              <a:latin typeface="+mj-lt"/>
            </a:endParaRPr>
          </a:p>
        </p:txBody>
      </p:sp>
      <p:sp>
        <p:nvSpPr>
          <p:cNvPr id="3" name="Content Placeholder 2">
            <a:extLst>
              <a:ext uri="{FF2B5EF4-FFF2-40B4-BE49-F238E27FC236}">
                <a16:creationId xmlns:a16="http://schemas.microsoft.com/office/drawing/2014/main" id="{C8B90BDF-4D93-FD01-74DA-699EBE845360}"/>
              </a:ext>
            </a:extLst>
          </p:cNvPr>
          <p:cNvSpPr>
            <a:spLocks noGrp="1"/>
          </p:cNvSpPr>
          <p:nvPr>
            <p:ph idx="1"/>
          </p:nvPr>
        </p:nvSpPr>
        <p:spPr/>
        <p:txBody>
          <a:bodyPr>
            <a:normAutofit/>
          </a:bodyPr>
          <a:lstStyle/>
          <a:p>
            <a:pPr algn="just"/>
            <a:r>
              <a:rPr lang="en-US" b="1" dirty="0"/>
              <a:t>"Detecting Email Spam with NLP: A Machine Learning Approach"</a:t>
            </a:r>
            <a:br>
              <a:rPr lang="en-US" dirty="0"/>
            </a:br>
            <a:r>
              <a:rPr lang="en-US" dirty="0"/>
              <a:t>This paper explores natural language processing (NLP) and machine learning techniques for classifying and filtering spam emails. It delves into implementing NLP tools for analyzing email content and identifying patterns indicative of spam.</a:t>
            </a:r>
            <a:br>
              <a:rPr lang="en-US" dirty="0"/>
            </a:br>
            <a:r>
              <a:rPr lang="en-US" dirty="0">
                <a:hlinkClick r:id="rId4"/>
              </a:rPr>
              <a:t>Read more on IEEE Xplore</a:t>
            </a:r>
            <a:r>
              <a:rPr lang="en-US" dirty="0"/>
              <a:t>​</a:t>
            </a:r>
            <a:r>
              <a:rPr lang="en-US" dirty="0">
                <a:hlinkClick r:id="rId4"/>
              </a:rPr>
              <a:t>IEEE Xplore</a:t>
            </a:r>
            <a:endParaRPr lang="en-US" dirty="0"/>
          </a:p>
          <a:p>
            <a:pPr algn="just"/>
            <a:r>
              <a:rPr lang="en-US" b="1" dirty="0"/>
              <a:t>"Sentiment Analysis for Automated Email Response System"</a:t>
            </a:r>
            <a:br>
              <a:rPr lang="en-US" dirty="0"/>
            </a:br>
            <a:r>
              <a:rPr lang="en-US" dirty="0"/>
              <a:t>This study focuses on leveraging sentiment analysis within an email automation framework. It highlights the methodologies for understanding the sentiment of emails to improve the tone and relevance of automated responses.</a:t>
            </a:r>
            <a:br>
              <a:rPr lang="en-US" dirty="0"/>
            </a:br>
            <a:r>
              <a:rPr lang="en-US" dirty="0">
                <a:hlinkClick r:id="rId5"/>
              </a:rPr>
              <a:t>Read more on IEEE Xplore</a:t>
            </a:r>
            <a:r>
              <a:rPr lang="en-US" dirty="0"/>
              <a:t>​</a:t>
            </a:r>
            <a:r>
              <a:rPr lang="en-US" dirty="0">
                <a:hlinkClick r:id="rId5"/>
              </a:rPr>
              <a:t>IEEE Xplore</a:t>
            </a:r>
            <a:endParaRPr lang="en-US" dirty="0"/>
          </a:p>
          <a:p>
            <a:endParaRPr lang="en-US" dirty="0"/>
          </a:p>
        </p:txBody>
      </p:sp>
    </p:spTree>
    <p:custDataLst>
      <p:tags r:id="rId1"/>
    </p:custDataLst>
    <p:extLst>
      <p:ext uri="{BB962C8B-B14F-4D97-AF65-F5344CB8AC3E}">
        <p14:creationId xmlns:p14="http://schemas.microsoft.com/office/powerpoint/2010/main" val="42768618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References</a:t>
            </a:r>
            <a:endParaRPr lang="en-IN" dirty="0">
              <a:latin typeface="+mj-lt"/>
            </a:endParaRPr>
          </a:p>
        </p:txBody>
      </p:sp>
      <p:sp>
        <p:nvSpPr>
          <p:cNvPr id="3" name="Content Placeholder 2"/>
          <p:cNvSpPr>
            <a:spLocks noGrp="1"/>
          </p:cNvSpPr>
          <p:nvPr>
            <p:ph idx="1"/>
          </p:nvPr>
        </p:nvSpPr>
        <p:spPr/>
        <p:txBody>
          <a:bodyPr>
            <a:normAutofit fontScale="85000" lnSpcReduction="10000"/>
          </a:bodyPr>
          <a:lstStyle/>
          <a:p>
            <a:pPr marL="342900" lvl="0" indent="-342900" algn="just">
              <a:lnSpc>
                <a:spcPct val="107000"/>
              </a:lnSpc>
              <a:spcAft>
                <a:spcPts val="800"/>
              </a:spcAft>
              <a:buFont typeface="+mj-lt"/>
              <a:buAutoNum type="arabicPeriod"/>
            </a:pPr>
            <a:r>
              <a:rPr lang="en-IN" sz="2400" dirty="0">
                <a:effectLst/>
                <a:latin typeface="Times New Roman" panose="02020603050405020304" pitchFamily="18" charset="0"/>
                <a:ea typeface="Calibri" panose="020F0502020204030204" pitchFamily="34" charset="0"/>
                <a:cs typeface="Latha" panose="020B0604020202020204" pitchFamily="34" charset="0"/>
              </a:rPr>
              <a:t>Katz, J. &amp; Lindell, Y. (2021). Introduction to Modern Cryptography. This book provides an in-depth understanding of security protocols, which could be useful for understanding secure email communication using IMAP and SMTP.</a:t>
            </a:r>
            <a:endParaRPr lang="en-IN" sz="2400" dirty="0">
              <a:effectLst/>
              <a:latin typeface="Calibri" panose="020F0502020204030204" pitchFamily="34" charset="0"/>
              <a:ea typeface="Calibri" panose="020F0502020204030204" pitchFamily="34" charset="0"/>
              <a:cs typeface="Latha" panose="020B0604020202020204" pitchFamily="34" charset="0"/>
            </a:endParaRPr>
          </a:p>
          <a:p>
            <a:pPr marL="342900" lvl="0" indent="-342900" algn="just">
              <a:lnSpc>
                <a:spcPct val="107000"/>
              </a:lnSpc>
              <a:spcAft>
                <a:spcPts val="800"/>
              </a:spcAft>
              <a:buFont typeface="+mj-lt"/>
              <a:buAutoNum type="arabicPeriod"/>
            </a:pPr>
            <a:r>
              <a:rPr lang="en-IN" sz="2400" dirty="0">
                <a:effectLst/>
                <a:latin typeface="Times New Roman" panose="02020603050405020304" pitchFamily="18" charset="0"/>
                <a:ea typeface="Calibri" panose="020F0502020204030204" pitchFamily="34" charset="0"/>
                <a:cs typeface="Latha" panose="020B0604020202020204" pitchFamily="34" charset="0"/>
              </a:rPr>
              <a:t>Manning, C. D., Raghavan, P., &amp; </a:t>
            </a:r>
            <a:r>
              <a:rPr lang="en-IN" sz="2400" dirty="0" err="1">
                <a:effectLst/>
                <a:latin typeface="Times New Roman" panose="02020603050405020304" pitchFamily="18" charset="0"/>
                <a:ea typeface="Calibri" panose="020F0502020204030204" pitchFamily="34" charset="0"/>
                <a:cs typeface="Latha" panose="020B0604020202020204" pitchFamily="34" charset="0"/>
              </a:rPr>
              <a:t>Schütze</a:t>
            </a:r>
            <a:r>
              <a:rPr lang="en-IN" sz="2400" dirty="0">
                <a:effectLst/>
                <a:latin typeface="Times New Roman" panose="02020603050405020304" pitchFamily="18" charset="0"/>
                <a:ea typeface="Calibri" panose="020F0502020204030204" pitchFamily="34" charset="0"/>
                <a:cs typeface="Latha" panose="020B0604020202020204" pitchFamily="34" charset="0"/>
              </a:rPr>
              <a:t>, H. (2008). Introduction to Information Retrieval. A great resource for understanding text analysis and NLP techniques, essential for the content analysis module in your project.</a:t>
            </a:r>
            <a:endParaRPr lang="en-IN" sz="2400" dirty="0">
              <a:effectLst/>
              <a:latin typeface="Calibri" panose="020F0502020204030204" pitchFamily="34" charset="0"/>
              <a:ea typeface="Calibri" panose="020F0502020204030204" pitchFamily="34" charset="0"/>
              <a:cs typeface="Latha" panose="020B0604020202020204" pitchFamily="34" charset="0"/>
            </a:endParaRPr>
          </a:p>
          <a:p>
            <a:pPr marL="342900" lvl="0" indent="-342900" algn="just">
              <a:lnSpc>
                <a:spcPct val="107000"/>
              </a:lnSpc>
              <a:spcAft>
                <a:spcPts val="800"/>
              </a:spcAft>
              <a:buFont typeface="+mj-lt"/>
              <a:buAutoNum type="arabicPeriod"/>
            </a:pPr>
            <a:r>
              <a:rPr lang="en-IN" sz="2400" dirty="0" err="1">
                <a:effectLst/>
                <a:latin typeface="Times New Roman" panose="02020603050405020304" pitchFamily="18" charset="0"/>
                <a:ea typeface="Calibri" panose="020F0502020204030204" pitchFamily="34" charset="0"/>
                <a:cs typeface="Latha" panose="020B0604020202020204" pitchFamily="34" charset="0"/>
              </a:rPr>
              <a:t>Jurafsky</a:t>
            </a:r>
            <a:r>
              <a:rPr lang="en-IN" sz="2400" dirty="0">
                <a:effectLst/>
                <a:latin typeface="Times New Roman" panose="02020603050405020304" pitchFamily="18" charset="0"/>
                <a:ea typeface="Calibri" panose="020F0502020204030204" pitchFamily="34" charset="0"/>
                <a:cs typeface="Latha" panose="020B0604020202020204" pitchFamily="34" charset="0"/>
              </a:rPr>
              <a:t>, D., &amp; Martin, J. H. (2020). Speech and Language Processing. This textbook is a comprehensive guide to NLP techniques, which are central to your email content analysis module.</a:t>
            </a:r>
            <a:endParaRPr lang="en-IN" sz="2400" dirty="0">
              <a:effectLst/>
              <a:latin typeface="Calibri" panose="020F0502020204030204" pitchFamily="34" charset="0"/>
              <a:ea typeface="Calibri" panose="020F0502020204030204" pitchFamily="34" charset="0"/>
              <a:cs typeface="Latha" panose="020B0604020202020204" pitchFamily="34" charset="0"/>
            </a:endParaRPr>
          </a:p>
          <a:p>
            <a:pPr marL="342900" lvl="0" indent="-342900" algn="just">
              <a:lnSpc>
                <a:spcPct val="107000"/>
              </a:lnSpc>
              <a:spcAft>
                <a:spcPts val="800"/>
              </a:spcAft>
              <a:buFont typeface="+mj-lt"/>
              <a:buAutoNum type="arabicPeriod"/>
            </a:pPr>
            <a:r>
              <a:rPr lang="en-IN" sz="2400" dirty="0">
                <a:effectLst/>
                <a:latin typeface="Times New Roman" panose="02020603050405020304" pitchFamily="18" charset="0"/>
                <a:ea typeface="Calibri" panose="020F0502020204030204" pitchFamily="34" charset="0"/>
                <a:cs typeface="Latha" panose="020B0604020202020204" pitchFamily="34" charset="0"/>
              </a:rPr>
              <a:t>Postel, J. B. (1982). RFC 821 - Simple Mail Transfer Protocol (SMTP). This RFC document outlines the standard for SMTP, useful for understanding the underlying principles of sending emails.</a:t>
            </a:r>
          </a:p>
          <a:p>
            <a:pPr algn="just">
              <a:lnSpc>
                <a:spcPct val="107000"/>
              </a:lnSpc>
              <a:spcAft>
                <a:spcPts val="800"/>
              </a:spcAft>
              <a:buFont typeface="+mj-lt"/>
              <a:buAutoNum type="arabicPeriod"/>
            </a:pPr>
            <a:r>
              <a:rPr lang="en-IN" sz="2400" dirty="0">
                <a:effectLst/>
                <a:latin typeface="Times New Roman" panose="02020603050405020304" pitchFamily="18" charset="0"/>
                <a:ea typeface="Calibri" panose="020F0502020204030204" pitchFamily="34" charset="0"/>
                <a:cs typeface="Latha" panose="020B0604020202020204" pitchFamily="34" charset="0"/>
              </a:rPr>
              <a:t>Crispin, M. (2003). RFC 3501 - Internet Message Access Protocol (IMAP) Version 4rev1. A technical specification detailing how IMAP works, providing foundational knowledge for the email retrieval aspect of your project.</a:t>
            </a:r>
            <a:endParaRPr lang="en-IN" sz="2400" dirty="0">
              <a:effectLst/>
              <a:latin typeface="Calibri" panose="020F0502020204030204" pitchFamily="34" charset="0"/>
              <a:ea typeface="Calibri" panose="020F0502020204030204" pitchFamily="34" charset="0"/>
              <a:cs typeface="Latha" panose="020B0604020202020204" pitchFamily="34" charset="0"/>
            </a:endParaRPr>
          </a:p>
        </p:txBody>
      </p:sp>
    </p:spTree>
    <p:custDataLst>
      <p:tags r:id="rId1"/>
    </p:custDataLst>
    <p:extLst>
      <p:ext uri="{BB962C8B-B14F-4D97-AF65-F5344CB8AC3E}">
        <p14:creationId xmlns:p14="http://schemas.microsoft.com/office/powerpoint/2010/main" val="19304747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532822" y="2321005"/>
            <a:ext cx="4078361" cy="1569660"/>
          </a:xfrm>
          <a:prstGeom prst="rect">
            <a:avLst/>
          </a:prstGeom>
          <a:noFill/>
        </p:spPr>
        <p:txBody>
          <a:bodyPr wrap="none" lIns="91440" tIns="45720" rIns="91440" bIns="45720">
            <a:spAutoFit/>
          </a:bodyPr>
          <a:lstStyle/>
          <a:p>
            <a:pPr algn="ctr"/>
            <a:r>
              <a:rPr lang="en-US" sz="9600" dirty="0">
                <a:ln w="0"/>
                <a:effectLst>
                  <a:outerShdw blurRad="38100" dist="19050" dir="2700000" algn="tl" rotWithShape="0">
                    <a:schemeClr val="dk1">
                      <a:alpha val="40000"/>
                    </a:schemeClr>
                  </a:outerShdw>
                </a:effectLst>
              </a:rPr>
              <a:t>Queries</a:t>
            </a:r>
          </a:p>
        </p:txBody>
      </p:sp>
    </p:spTree>
    <p:extLst>
      <p:ext uri="{BB962C8B-B14F-4D97-AF65-F5344CB8AC3E}">
        <p14:creationId xmlns:p14="http://schemas.microsoft.com/office/powerpoint/2010/main" val="21918022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27460" y="2321005"/>
            <a:ext cx="7689093" cy="1569660"/>
          </a:xfrm>
          <a:prstGeom prst="rect">
            <a:avLst/>
          </a:prstGeom>
          <a:noFill/>
        </p:spPr>
        <p:txBody>
          <a:bodyPr wrap="none" lIns="91440" tIns="45720" rIns="91440" bIns="45720">
            <a:spAutoFit/>
          </a:bodyPr>
          <a:lstStyle/>
          <a:p>
            <a:pPr algn="ctr"/>
            <a:r>
              <a:rPr lang="en-US" sz="9600" dirty="0">
                <a:ln w="0"/>
                <a:effectLst>
                  <a:outerShdw blurRad="38100" dist="19050" dir="2700000" algn="tl" rotWithShape="0">
                    <a:schemeClr val="dk1">
                      <a:alpha val="40000"/>
                    </a:schemeClr>
                  </a:outerShdw>
                </a:effectLst>
              </a:rPr>
              <a:t>Demonstration</a:t>
            </a:r>
          </a:p>
        </p:txBody>
      </p:sp>
    </p:spTree>
    <p:extLst>
      <p:ext uri="{BB962C8B-B14F-4D97-AF65-F5344CB8AC3E}">
        <p14:creationId xmlns:p14="http://schemas.microsoft.com/office/powerpoint/2010/main" val="26063687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844234" y="2321005"/>
            <a:ext cx="5455532" cy="1569660"/>
          </a:xfrm>
          <a:prstGeom prst="rect">
            <a:avLst/>
          </a:prstGeom>
          <a:noFill/>
        </p:spPr>
        <p:txBody>
          <a:bodyPr wrap="none" lIns="91440" tIns="45720" rIns="91440" bIns="45720">
            <a:spAutoFit/>
          </a:bodyPr>
          <a:lstStyle/>
          <a:p>
            <a:pPr algn="ctr"/>
            <a:r>
              <a:rPr lang="en-US" sz="9600" dirty="0">
                <a:ln w="0"/>
                <a:effectLst>
                  <a:outerShdw blurRad="38100" dist="19050" dir="2700000" algn="tl" rotWithShape="0">
                    <a:schemeClr val="dk1">
                      <a:alpha val="40000"/>
                    </a:schemeClr>
                  </a:outerShdw>
                </a:effectLst>
              </a:rPr>
              <a:t>Thank You</a:t>
            </a:r>
          </a:p>
        </p:txBody>
      </p:sp>
    </p:spTree>
    <p:extLst>
      <p:ext uri="{BB962C8B-B14F-4D97-AF65-F5344CB8AC3E}">
        <p14:creationId xmlns:p14="http://schemas.microsoft.com/office/powerpoint/2010/main" val="207485784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1|4|2.4|1.4"/>
</p:tagLst>
</file>

<file path=ppt/tags/tag2.xml><?xml version="1.0" encoding="utf-8"?>
<p:tagLst xmlns:a="http://schemas.openxmlformats.org/drawingml/2006/main" xmlns:r="http://schemas.openxmlformats.org/officeDocument/2006/relationships" xmlns:p="http://schemas.openxmlformats.org/presentationml/2006/main">
  <p:tag name="TIMING" val="|1.1|4|2.4|1.4"/>
</p:tagLst>
</file>

<file path=ppt/tags/tag3.xml><?xml version="1.0" encoding="utf-8"?>
<p:tagLst xmlns:a="http://schemas.openxmlformats.org/drawingml/2006/main" xmlns:r="http://schemas.openxmlformats.org/officeDocument/2006/relationships" xmlns:p="http://schemas.openxmlformats.org/presentationml/2006/main">
  <p:tag name="TIMING" val="|1.1|4|2.4|1.4"/>
</p:tagLst>
</file>

<file path=ppt/tags/tag4.xml><?xml version="1.0" encoding="utf-8"?>
<p:tagLst xmlns:a="http://schemas.openxmlformats.org/drawingml/2006/main" xmlns:r="http://schemas.openxmlformats.org/officeDocument/2006/relationships" xmlns:p="http://schemas.openxmlformats.org/presentationml/2006/main">
  <p:tag name="TIMING" val="|1.1|4|2.4|1.4"/>
</p:tagLst>
</file>

<file path=ppt/tags/tag5.xml><?xml version="1.0" encoding="utf-8"?>
<p:tagLst xmlns:a="http://schemas.openxmlformats.org/drawingml/2006/main" xmlns:r="http://schemas.openxmlformats.org/officeDocument/2006/relationships" xmlns:p="http://schemas.openxmlformats.org/presentationml/2006/main">
  <p:tag name="TIMING" val="|1.1|4|2.4|1.4"/>
</p:tagLst>
</file>

<file path=ppt/tags/tag6.xml><?xml version="1.0" encoding="utf-8"?>
<p:tagLst xmlns:a="http://schemas.openxmlformats.org/drawingml/2006/main" xmlns:r="http://schemas.openxmlformats.org/officeDocument/2006/relationships" xmlns:p="http://schemas.openxmlformats.org/presentationml/2006/main">
  <p:tag name="TIMING" val="|1.1|4|2.4|1.4"/>
</p:tagLst>
</file>

<file path=ppt/tags/tag7.xml><?xml version="1.0" encoding="utf-8"?>
<p:tagLst xmlns:a="http://schemas.openxmlformats.org/drawingml/2006/main" xmlns:r="http://schemas.openxmlformats.org/officeDocument/2006/relationships" xmlns:p="http://schemas.openxmlformats.org/presentationml/2006/main">
  <p:tag name="TIMING" val="|1.1|4|2.4|1.4"/>
</p:tagLst>
</file>

<file path=ppt/tags/tag8.xml><?xml version="1.0" encoding="utf-8"?>
<p:tagLst xmlns:a="http://schemas.openxmlformats.org/drawingml/2006/main" xmlns:r="http://schemas.openxmlformats.org/officeDocument/2006/relationships" xmlns:p="http://schemas.openxmlformats.org/presentationml/2006/main">
  <p:tag name="TIMING" val="|1.1|4|2.4|1.4"/>
</p:tagLst>
</file>

<file path=ppt/tags/tag9.xml><?xml version="1.0" encoding="utf-8"?>
<p:tagLst xmlns:a="http://schemas.openxmlformats.org/drawingml/2006/main" xmlns:r="http://schemas.openxmlformats.org/officeDocument/2006/relationships" xmlns:p="http://schemas.openxmlformats.org/presentationml/2006/main">
  <p:tag name="TIMING" val="|1.1|4|2.4|1.4"/>
</p:tagLst>
</file>

<file path=ppt/tags/tag10.xml><?xml version="1.0" encoding="utf-8"?>
<p:tagLst xmlns:a="http://schemas.openxmlformats.org/drawingml/2006/main" xmlns:r="http://schemas.openxmlformats.org/officeDocument/2006/relationships" xmlns:p="http://schemas.openxmlformats.org/presentationml/2006/main">
  <p:tag name="TIMING" val="|1.1|4|2.4|1.4"/>
</p:tagLst>
</file>

<file path=ppt/tags/tag11.xml><?xml version="1.0" encoding="utf-8"?>
<p:tagLst xmlns:a="http://schemas.openxmlformats.org/drawingml/2006/main" xmlns:r="http://schemas.openxmlformats.org/officeDocument/2006/relationships" xmlns:p="http://schemas.openxmlformats.org/presentationml/2006/main">
  <p:tag name="TIMING" val="|1.1|4|2.4|1.4"/>
</p:tagLst>
</file>

<file path=ppt/tags/tag12.xml><?xml version="1.0" encoding="utf-8"?>
<p:tagLst xmlns:a="http://schemas.openxmlformats.org/drawingml/2006/main" xmlns:r="http://schemas.openxmlformats.org/officeDocument/2006/relationships" xmlns:p="http://schemas.openxmlformats.org/presentationml/2006/main">
  <p:tag name="TIMING" val="|1.1|4|2.4|1.4"/>
</p:tagLst>
</file>

<file path=ppt/tags/tag13.xml><?xml version="1.0" encoding="utf-8"?>
<p:tagLst xmlns:a="http://schemas.openxmlformats.org/drawingml/2006/main" xmlns:r="http://schemas.openxmlformats.org/officeDocument/2006/relationships" xmlns:p="http://schemas.openxmlformats.org/presentationml/2006/main">
  <p:tag name="TIMING" val="|1.1|4|2.4|1.4"/>
</p:tagLst>
</file>

<file path=ppt/tags/tag14.xml><?xml version="1.0" encoding="utf-8"?>
<p:tagLst xmlns:a="http://schemas.openxmlformats.org/drawingml/2006/main" xmlns:r="http://schemas.openxmlformats.org/officeDocument/2006/relationships" xmlns:p="http://schemas.openxmlformats.org/presentationml/2006/main">
  <p:tag name="TIMING" val="|1.1|4|2.4|1.4"/>
</p:tagLst>
</file>

<file path=ppt/tags/tag15.xml><?xml version="1.0" encoding="utf-8"?>
<p:tagLst xmlns:a="http://schemas.openxmlformats.org/drawingml/2006/main" xmlns:r="http://schemas.openxmlformats.org/officeDocument/2006/relationships" xmlns:p="http://schemas.openxmlformats.org/presentationml/2006/main">
  <p:tag name="TIMING" val="|1.1|4|2.4|1.4"/>
</p:tagLst>
</file>

<file path=ppt/tags/tag16.xml><?xml version="1.0" encoding="utf-8"?>
<p:tagLst xmlns:a="http://schemas.openxmlformats.org/drawingml/2006/main" xmlns:r="http://schemas.openxmlformats.org/officeDocument/2006/relationships" xmlns:p="http://schemas.openxmlformats.org/presentationml/2006/main">
  <p:tag name="TIMING" val="|1.1|4|2.4|1.4"/>
</p:tagLst>
</file>

<file path=ppt/tags/tag17.xml><?xml version="1.0" encoding="utf-8"?>
<p:tagLst xmlns:a="http://schemas.openxmlformats.org/drawingml/2006/main" xmlns:r="http://schemas.openxmlformats.org/officeDocument/2006/relationships" xmlns:p="http://schemas.openxmlformats.org/presentationml/2006/main">
  <p:tag name="TIMING" val="|1.1|4|2.4|1.4"/>
</p:tagLst>
</file>

<file path=ppt/tags/tag18.xml><?xml version="1.0" encoding="utf-8"?>
<p:tagLst xmlns:a="http://schemas.openxmlformats.org/drawingml/2006/main" xmlns:r="http://schemas.openxmlformats.org/officeDocument/2006/relationships" xmlns:p="http://schemas.openxmlformats.org/presentationml/2006/main">
  <p:tag name="TIMING" val="|1.1|4|2.4|1.4"/>
</p:tagLst>
</file>

<file path=ppt/tags/tag19.xml><?xml version="1.0" encoding="utf-8"?>
<p:tagLst xmlns:a="http://schemas.openxmlformats.org/drawingml/2006/main" xmlns:r="http://schemas.openxmlformats.org/officeDocument/2006/relationships" xmlns:p="http://schemas.openxmlformats.org/presentationml/2006/main">
  <p:tag name="TIMING" val="|1.1|4|2.4|1.4"/>
</p:tagLst>
</file>

<file path=ppt/tags/tag20.xml><?xml version="1.0" encoding="utf-8"?>
<p:tagLst xmlns:a="http://schemas.openxmlformats.org/drawingml/2006/main" xmlns:r="http://schemas.openxmlformats.org/officeDocument/2006/relationships" xmlns:p="http://schemas.openxmlformats.org/presentationml/2006/main">
  <p:tag name="TIMING" val="|1.1|4|2.4|1.4"/>
</p:tagLst>
</file>

<file path=ppt/tags/tag21.xml><?xml version="1.0" encoding="utf-8"?>
<p:tagLst xmlns:a="http://schemas.openxmlformats.org/drawingml/2006/main" xmlns:r="http://schemas.openxmlformats.org/officeDocument/2006/relationships" xmlns:p="http://schemas.openxmlformats.org/presentationml/2006/main">
  <p:tag name="TIMING" val="|1.1|4|2.4|1.4"/>
</p:tagLst>
</file>

<file path=ppt/tags/tag22.xml><?xml version="1.0" encoding="utf-8"?>
<p:tagLst xmlns:a="http://schemas.openxmlformats.org/drawingml/2006/main" xmlns:r="http://schemas.openxmlformats.org/officeDocument/2006/relationships" xmlns:p="http://schemas.openxmlformats.org/presentationml/2006/main">
  <p:tag name="TIMING" val="|1.1|4|2.4|1.4"/>
</p:tagLst>
</file>

<file path=ppt/tags/tag23.xml><?xml version="1.0" encoding="utf-8"?>
<p:tagLst xmlns:a="http://schemas.openxmlformats.org/drawingml/2006/main" xmlns:r="http://schemas.openxmlformats.org/officeDocument/2006/relationships" xmlns:p="http://schemas.openxmlformats.org/presentationml/2006/main">
  <p:tag name="TIMING" val="|1.1|4|2.4|1.4"/>
</p:tagLst>
</file>

<file path=ppt/tags/tag24.xml><?xml version="1.0" encoding="utf-8"?>
<p:tagLst xmlns:a="http://schemas.openxmlformats.org/drawingml/2006/main" xmlns:r="http://schemas.openxmlformats.org/officeDocument/2006/relationships" xmlns:p="http://schemas.openxmlformats.org/presentationml/2006/main">
  <p:tag name="TIMING" val="|1.1|4|2.4|1.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9244</TotalTime>
  <Words>1947</Words>
  <Application>Microsoft Office PowerPoint</Application>
  <PresentationFormat>On-screen Show (4:3)</PresentationFormat>
  <Paragraphs>168</Paragraphs>
  <Slides>28</Slides>
  <Notes>27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Arial</vt:lpstr>
      <vt:lpstr>Calibri</vt:lpstr>
      <vt:lpstr>Open Sans Bold</vt:lpstr>
      <vt:lpstr>Open Sans Extrabold</vt:lpstr>
      <vt:lpstr>Open Sans Light</vt:lpstr>
      <vt:lpstr>Times New Roman</vt:lpstr>
      <vt:lpstr>Wingdings</vt:lpstr>
      <vt:lpstr>Office Theme</vt:lpstr>
      <vt:lpstr>PowerPoint Presentation</vt:lpstr>
      <vt:lpstr>Abstract</vt:lpstr>
      <vt:lpstr>Need for the Proposed System</vt:lpstr>
      <vt:lpstr>Advantages of the Proposed System</vt:lpstr>
      <vt:lpstr>Literature Survey</vt:lpstr>
      <vt:lpstr>Main Objective</vt:lpstr>
      <vt:lpstr>Architecture</vt:lpstr>
      <vt:lpstr>System Requirements</vt:lpstr>
      <vt:lpstr>Functional Description</vt:lpstr>
      <vt:lpstr>Functional Description</vt:lpstr>
      <vt:lpstr>Table Design</vt:lpstr>
      <vt:lpstr>Process Design</vt:lpstr>
      <vt:lpstr>Implementation</vt:lpstr>
      <vt:lpstr>Implementation</vt:lpstr>
      <vt:lpstr>Implementation</vt:lpstr>
      <vt:lpstr>Testing</vt:lpstr>
      <vt:lpstr>Testing</vt:lpstr>
      <vt:lpstr>Testing</vt:lpstr>
      <vt:lpstr>Testing</vt:lpstr>
      <vt:lpstr>Testing</vt:lpstr>
      <vt:lpstr>Testing</vt:lpstr>
      <vt:lpstr>Conclusions</vt:lpstr>
      <vt:lpstr>Future Enhancement</vt:lpstr>
      <vt:lpstr>IEEE Paper</vt:lpstr>
      <vt:lpstr>References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jrkamal2619@gmail.com</cp:lastModifiedBy>
  <cp:revision>1744</cp:revision>
  <dcterms:created xsi:type="dcterms:W3CDTF">2013-05-17T03:00:03Z</dcterms:created>
  <dcterms:modified xsi:type="dcterms:W3CDTF">2024-11-21T10:24:22Z</dcterms:modified>
</cp:coreProperties>
</file>